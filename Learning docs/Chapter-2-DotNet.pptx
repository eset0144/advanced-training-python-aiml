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32" r:id="rId4"/>
  </p:sldMasterIdLst>
  <p:sldIdLst>
    <p:sldId id="316" r:id="rId5"/>
    <p:sldId id="256" r:id="rId6"/>
    <p:sldId id="257" r:id="rId7"/>
    <p:sldId id="299" r:id="rId8"/>
    <p:sldId id="306" r:id="rId9"/>
    <p:sldId id="300" r:id="rId10"/>
    <p:sldId id="276" r:id="rId11"/>
    <p:sldId id="285" r:id="rId12"/>
    <p:sldId id="275" r:id="rId13"/>
    <p:sldId id="303" r:id="rId14"/>
    <p:sldId id="302" r:id="rId15"/>
    <p:sldId id="307" r:id="rId16"/>
    <p:sldId id="258" r:id="rId17"/>
    <p:sldId id="305" r:id="rId18"/>
    <p:sldId id="277" r:id="rId19"/>
    <p:sldId id="288" r:id="rId20"/>
    <p:sldId id="308" r:id="rId21"/>
    <p:sldId id="278" r:id="rId22"/>
    <p:sldId id="291" r:id="rId23"/>
    <p:sldId id="309" r:id="rId24"/>
    <p:sldId id="292" r:id="rId25"/>
    <p:sldId id="293" r:id="rId26"/>
    <p:sldId id="294" r:id="rId27"/>
    <p:sldId id="286" r:id="rId28"/>
    <p:sldId id="310" r:id="rId29"/>
    <p:sldId id="289" r:id="rId30"/>
    <p:sldId id="290" r:id="rId31"/>
    <p:sldId id="295" r:id="rId32"/>
    <p:sldId id="296" r:id="rId33"/>
    <p:sldId id="298" r:id="rId34"/>
    <p:sldId id="274" r:id="rId35"/>
    <p:sldId id="265" r:id="rId36"/>
    <p:sldId id="311" r:id="rId37"/>
    <p:sldId id="281" r:id="rId38"/>
    <p:sldId id="312" r:id="rId39"/>
    <p:sldId id="282" r:id="rId40"/>
    <p:sldId id="313" r:id="rId41"/>
    <p:sldId id="283" r:id="rId42"/>
    <p:sldId id="314" r:id="rId43"/>
    <p:sldId id="266" r:id="rId44"/>
    <p:sldId id="315" r:id="rId45"/>
    <p:sldId id="267" r:id="rId46"/>
    <p:sldId id="268" r:id="rId47"/>
    <p:sldId id="269" r:id="rId48"/>
  </p:sldIdLst>
  <p:sldSz cx="18288000" cy="10287000"/>
  <p:notesSz cx="6858000" cy="9144000"/>
  <p:embeddedFontLst>
    <p:embeddedFont>
      <p:font typeface="Agrandir" panose="020B0604020202020204" charset="0"/>
      <p:regular r:id="rId49"/>
    </p:embeddedFont>
    <p:embeddedFont>
      <p:font typeface="Assistant Regular" panose="020B0604020202020204" charset="-79"/>
      <p:regular r:id="rId50"/>
    </p:embeddedFont>
    <p:embeddedFont>
      <p:font typeface="Assistant Regular Bold" panose="020B0604020202020204" charset="-79"/>
      <p:regular r:id="rId51"/>
    </p:embeddedFont>
    <p:embeddedFont>
      <p:font typeface="Heebo Black" panose="020B0604020202020204" charset="-79"/>
      <p:regular r:id="rId52"/>
      <p:bold r:id="rId53"/>
    </p:embeddedFont>
    <p:embeddedFont>
      <p:font typeface="HK Modular" panose="020B0604020202020204" charset="0"/>
      <p:regular r:id="rId54"/>
    </p:embeddedFont>
    <p:embeddedFont>
      <p:font typeface="Horizon" panose="020B0604020202020204" charset="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ED9CB"/>
    <a:srgbClr val="F9875A"/>
    <a:srgbClr val="FFCCCC"/>
    <a:srgbClr val="FFCC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8835B-556E-278A-9B1E-D570B2CA17A5}" v="1" dt="2025-09-15T09:11:29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 Ranjan" userId="S::heyatharv05_gmail.com#ext#@sierralearningacademycom.onmicrosoft.com::1c09ebd7-500c-40d1-b2c5-34c96fa08e35" providerId="AD" clId="Web-{E848835B-556E-278A-9B1E-D570B2CA17A5}"/>
    <pc:docChg chg="modSld">
      <pc:chgData name="Atharv Ranjan" userId="S::heyatharv05_gmail.com#ext#@sierralearningacademycom.onmicrosoft.com::1c09ebd7-500c-40d1-b2c5-34c96fa08e35" providerId="AD" clId="Web-{E848835B-556E-278A-9B1E-D570B2CA17A5}" dt="2025-09-15T09:11:29.803" v="0"/>
      <pc:docMkLst>
        <pc:docMk/>
      </pc:docMkLst>
      <pc:sldChg chg="delSp">
        <pc:chgData name="Atharv Ranjan" userId="S::heyatharv05_gmail.com#ext#@sierralearningacademycom.onmicrosoft.com::1c09ebd7-500c-40d1-b2c5-34c96fa08e35" providerId="AD" clId="Web-{E848835B-556E-278A-9B1E-D570B2CA17A5}" dt="2025-09-15T09:11:29.803" v="0"/>
        <pc:sldMkLst>
          <pc:docMk/>
          <pc:sldMk cId="656176183" sldId="285"/>
        </pc:sldMkLst>
        <pc:spChg chg="del">
          <ac:chgData name="Atharv Ranjan" userId="S::heyatharv05_gmail.com#ext#@sierralearningacademycom.onmicrosoft.com::1c09ebd7-500c-40d1-b2c5-34c96fa08e35" providerId="AD" clId="Web-{E848835B-556E-278A-9B1E-D570B2CA17A5}" dt="2025-09-15T09:11:29.803" v="0"/>
          <ac:spMkLst>
            <pc:docMk/>
            <pc:sldMk cId="656176183" sldId="285"/>
            <ac:spMk id="8" creationId="{A74DAE55-4EBC-30C6-508A-E7551F261F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E808-8960-0329-1541-5211C52D0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7E256-125E-9A0F-35A6-E9EB88E0C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A91C-BD27-B927-E58B-239D7A0B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5360-79B3-4B33-455B-3946A1D0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CC404-A772-2304-87F6-F032C955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42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3A7F-8C06-9D61-9EDC-7A532349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2AB96-A87C-8EFC-0D3B-ACF027A74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5EE9D-476E-C772-1E59-8A33D82E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EAA85-A619-EEE4-AC40-94A61D7C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D3B53-3976-2501-6EA7-A19562F6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4257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EB71-980C-2512-FB03-3185CD3E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E51F4-758D-B20F-A974-678B4A07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EE8-43FB-88B4-C60D-2FA35CC9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6C4D7-5520-8328-EC5B-61EDCE7D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EAB6D-CF83-76E4-F44B-23CAFC6B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7882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AB9-310B-6799-D623-D8EDEEA7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6659D-DBAD-D484-0980-AF8339D98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71892-BB5B-A326-EAA5-6E85BEF64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A9099-0921-3165-D766-DBC3DD8B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96614-6800-BB34-1E13-DCC1CD61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19755-EC31-C4A5-658E-981CF221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577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AADB-B99E-F0C5-8274-6BF3556A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8F575-1F47-D531-818B-C05B3821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CBD75-9167-DBD9-A0C4-B992EC768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C2D63-677A-920F-641C-6F1E1EA2D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292FD-D4C5-17D3-3037-796E8278B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E7C17-61B8-8B0F-2356-5CC6403D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54667-E59B-2B26-34BB-B3654FF4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B252-5310-6F6D-1415-1C4A67F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3606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AE63-B911-CD2F-3DAD-E8BC22FD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DA877-FDA7-8E3A-92FD-CF0D232A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57C54-9616-D924-2DE8-DEDC310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1C917-18C8-E044-F030-740766D1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887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5A6C1-D1C6-3F36-9290-53B47FD5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B93CB-DBBC-67EC-D363-829681D2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A7824-BD4E-BCFC-C8B5-5C9955DB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4002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D7AE-16D4-326E-1966-CDA9DADD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9828-C810-A7D8-0BAA-04CAFBF2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40147-89D6-B259-C08C-119C0CEB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211FF-8469-3624-9E38-6CEDCE4B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13369-C88A-C919-669A-E025D6E8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A6F8C-F255-E301-33F5-FED06B68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486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E3F2-8045-D058-0477-01CFFFC9A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B3977-53B5-62C4-06F6-2DBA2F2B2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169CF-9DBC-A325-E245-A920354E3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2D9D9-DF11-164D-27A8-B6D2F6E5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F5565-4911-1FC0-C083-BB041EA0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45CA0-0DFB-A954-9145-629A6C7B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0521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63AA-1F06-0930-F572-9B19290C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FBF57-B068-FCB1-DB54-4E4087C8A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B088-1710-8498-82DF-27A32E80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D37E-2FC6-C01F-C318-08CB9DA3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36EF-9CC0-73BD-5ED8-2DEFD0EE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312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BC8BF-7DF5-B623-CC6B-3277EB343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AC6C3-3140-E968-63D6-EBE6C60F1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57DCE-75AE-FF67-359C-9A074C10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52C9E-9B1A-4EBC-F4A1-2597E5D2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DCEE6-24AC-34CB-FC63-778BB9AB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740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8645B-A072-C85D-72F9-E9E648E7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9F109-CBE6-E8CA-2C6A-5C0966733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95B96-D936-42E7-E784-1F8333C1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514A1-A3D6-5D0F-7E72-46689A553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35460-E370-855D-5921-890ED2161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4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GhQdlIFylQ8" TargetMode="External"/><Relationship Id="rId4" Type="http://schemas.openxmlformats.org/officeDocument/2006/relationships/hyperlink" Target="https://learn.microsoft.com/en-us/dotnet/csharp/fundamentals/object-oriented/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21091" y="3903081"/>
            <a:ext cx="13975099" cy="3707561"/>
            <a:chOff x="-1574341" y="-592790"/>
            <a:chExt cx="18633465" cy="4943416"/>
          </a:xfrm>
        </p:grpSpPr>
        <p:sp>
          <p:nvSpPr>
            <p:cNvPr id="3" name="TextBox 3"/>
            <p:cNvSpPr txBox="1"/>
            <p:nvPr/>
          </p:nvSpPr>
          <p:spPr>
            <a:xfrm>
              <a:off x="-1574341" y="-592790"/>
              <a:ext cx="18633465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>
                  <a:ea typeface="+mn-lt"/>
                  <a:cs typeface="+mn-lt"/>
                  <a:sym typeface="Heebo Black"/>
                </a:rPr>
                <a:t>Foundational Concepts - II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44485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latin typeface="Calibri"/>
                <a:ea typeface="Agrandir Bold"/>
                <a:cs typeface="Agrandir Bold"/>
                <a:sym typeface="Agrandir Bold"/>
              </a:rPr>
              <a:t>By : Mr Shivam Supekar</a:t>
            </a:r>
            <a:endParaRPr lang="en-US" sz="3200" b="1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285955" y="8849359"/>
            <a:ext cx="4114800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FFDF31-5363-B41E-C69B-D365621E0AE1}"/>
              </a:ext>
            </a:extLst>
          </p:cNvPr>
          <p:cNvSpPr txBox="1"/>
          <p:nvPr/>
        </p:nvSpPr>
        <p:spPr>
          <a:xfrm>
            <a:off x="16432940" y="8923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>
                <a:latin typeface="Calibri"/>
                <a:ea typeface="Agrandir Bold"/>
                <a:cs typeface="Agrandir Bold"/>
              </a:rPr>
              <a:t>2 /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2F4B9-69F9-6981-76C6-A8A1EE669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10121" y="1133156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62525" y="1104900"/>
            <a:ext cx="7433384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/>
                <a:t>OOP in C#-Classes &amp; Objects</a:t>
              </a:r>
              <a:endParaRPr lang="en-IN" sz="2400"/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/>
                <a:t>Inheritance</a:t>
              </a:r>
              <a:endParaRPr lang="en-IN" sz="24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GB" sz="240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Abstraction and Interfaces</a:t>
              </a:r>
              <a:endParaRPr lang="en-US" sz="2400">
                <a:ea typeface="+mn-lt"/>
                <a:cs typeface="+mn-lt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Encapsulation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  <a:endParaRPr lang="en-US" sz="2400">
                <a:solidFill>
                  <a:srgbClr val="33123B"/>
                </a:solidFill>
                <a:ea typeface="Agrandir"/>
                <a:cs typeface="Agrandir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Polymorphism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SOLID properties</a:t>
              </a:r>
              <a:endParaRPr lang="en-US" sz="240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F61B1210-13C6-0F8F-A19E-1C25B041CC28}"/>
              </a:ext>
            </a:extLst>
          </p:cNvPr>
          <p:cNvGrpSpPr/>
          <p:nvPr/>
        </p:nvGrpSpPr>
        <p:grpSpPr>
          <a:xfrm>
            <a:off x="11017501" y="6976502"/>
            <a:ext cx="5548532" cy="881343"/>
            <a:chOff x="0" y="0"/>
            <a:chExt cx="7398043" cy="1175123"/>
          </a:xfrm>
        </p:grpSpPr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96CAD1F9-EFA5-0662-28EB-0551DCF2CA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31">
                <a:extLst>
                  <a:ext uri="{FF2B5EF4-FFF2-40B4-BE49-F238E27FC236}">
                    <a16:creationId xmlns:a16="http://schemas.microsoft.com/office/drawing/2014/main" id="{65DF86CE-F988-BB14-0A68-CEADD44511CD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4" name="TextBox 32">
              <a:extLst>
                <a:ext uri="{FF2B5EF4-FFF2-40B4-BE49-F238E27FC236}">
                  <a16:creationId xmlns:a16="http://schemas.microsoft.com/office/drawing/2014/main" id="{1CDBF01F-414C-85FC-6E6F-82A78C2038B3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8</a:t>
              </a:r>
            </a:p>
          </p:txBody>
        </p: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CEBDD07B-D095-5963-FDA1-E5004575251C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grpSp>
        <p:nvGrpSpPr>
          <p:cNvPr id="47" name="Group 29">
            <a:extLst>
              <a:ext uri="{FF2B5EF4-FFF2-40B4-BE49-F238E27FC236}">
                <a16:creationId xmlns:a16="http://schemas.microsoft.com/office/drawing/2014/main" id="{EC9B0B9C-A74D-4A6F-BB1B-744ADBB29266}"/>
              </a:ext>
            </a:extLst>
          </p:cNvPr>
          <p:cNvGrpSpPr/>
          <p:nvPr/>
        </p:nvGrpSpPr>
        <p:grpSpPr>
          <a:xfrm>
            <a:off x="4773658" y="8409976"/>
            <a:ext cx="5548532" cy="881343"/>
            <a:chOff x="0" y="0"/>
            <a:chExt cx="7398043" cy="1175123"/>
          </a:xfrm>
        </p:grpSpPr>
        <p:grpSp>
          <p:nvGrpSpPr>
            <p:cNvPr id="48" name="Group 30">
              <a:extLst>
                <a:ext uri="{FF2B5EF4-FFF2-40B4-BE49-F238E27FC236}">
                  <a16:creationId xmlns:a16="http://schemas.microsoft.com/office/drawing/2014/main" id="{3E5A15DF-3AAF-63EB-AD81-22649954544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3B88BB86-9471-4C31-A759-DB71C4D99E45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9" name="TextBox 32">
              <a:extLst>
                <a:ext uri="{FF2B5EF4-FFF2-40B4-BE49-F238E27FC236}">
                  <a16:creationId xmlns:a16="http://schemas.microsoft.com/office/drawing/2014/main" id="{C1155C6C-F203-03BC-D458-123F35913F6F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9</a:t>
              </a:r>
            </a:p>
          </p:txBody>
        </p:sp>
        <p:sp>
          <p:nvSpPr>
            <p:cNvPr id="50" name="TextBox 33">
              <a:extLst>
                <a:ext uri="{FF2B5EF4-FFF2-40B4-BE49-F238E27FC236}">
                  <a16:creationId xmlns:a16="http://schemas.microsoft.com/office/drawing/2014/main" id="{1BCEC8F6-CDD2-D034-3F25-5E06A511F33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78AA-46B0-8963-CF26-9CD1138D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B2CF5D-EED2-51A9-AC42-4F6E951CE1E2}"/>
              </a:ext>
            </a:extLst>
          </p:cNvPr>
          <p:cNvSpPr/>
          <p:nvPr/>
        </p:nvSpPr>
        <p:spPr>
          <a:xfrm>
            <a:off x="-731615" y="-10144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B0F02D-379D-E393-0ABE-8EF53934384E}"/>
              </a:ext>
            </a:extLst>
          </p:cNvPr>
          <p:cNvSpPr/>
          <p:nvPr/>
        </p:nvSpPr>
        <p:spPr>
          <a:xfrm>
            <a:off x="-1100965" y="94609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921B4E8-AB47-C0D9-21FB-FA18A66C2750}"/>
              </a:ext>
            </a:extLst>
          </p:cNvPr>
          <p:cNvGrpSpPr/>
          <p:nvPr/>
        </p:nvGrpSpPr>
        <p:grpSpPr>
          <a:xfrm>
            <a:off x="1358467" y="1824743"/>
            <a:ext cx="16496396" cy="7291227"/>
            <a:chOff x="-1423162" y="-2586681"/>
            <a:chExt cx="19894795" cy="85478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425CC64-8EF2-433F-34DF-663E4EBB0919}"/>
                </a:ext>
              </a:extLst>
            </p:cNvPr>
            <p:cNvSpPr txBox="1"/>
            <p:nvPr/>
          </p:nvSpPr>
          <p:spPr>
            <a:xfrm>
              <a:off x="-1423162" y="-2586681"/>
              <a:ext cx="19894795" cy="85478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b="1"/>
                <a:t>What is Object-Oriented Programming (OOP)?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4000"/>
                <a:t>Object-Oriented Programming (OOP) is a way of designing programs where real-world things (objects) are represented in code. </a:t>
              </a:r>
            </a:p>
            <a:p>
              <a:pPr marL="514350" indent="-514350" fontAlgn="base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b="1"/>
                <a:t>Why Do We Need OOP?</a:t>
              </a:r>
              <a:r>
                <a:rPr lang="en-US" sz="4000"/>
                <a:t> </a:t>
              </a:r>
            </a:p>
            <a:p>
              <a:pPr marL="1428750" lvl="2" indent="-514350" algn="just" fontAlgn="base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4000"/>
                <a:t>Before OOP, programs were often long, repetitive, ha</a:t>
              </a:r>
              <a:r>
                <a:rPr lang="en-IN"/>
                <a:t> </a:t>
              </a:r>
              <a:r>
                <a:rPr lang="en-US" sz="4000" err="1"/>
                <a:t>rd</a:t>
              </a:r>
              <a:r>
                <a:rPr lang="en-US" sz="4000"/>
                <a:t> to maintain. </a:t>
              </a:r>
            </a:p>
            <a:p>
              <a:pPr marL="1428750" lvl="2" indent="-514350" algn="just" fontAlgn="base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4000"/>
                <a:t>OOP solves this by letting us break down complex things into small, understandable pieces (called objects). </a:t>
              </a:r>
              <a:endParaRPr lang="en-GB" sz="4000" b="1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9D88BD9-1449-4767-BA03-52AF3FAC7A8E}"/>
                </a:ext>
              </a:extLst>
            </p:cNvPr>
            <p:cNvSpPr txBox="1"/>
            <p:nvPr/>
          </p:nvSpPr>
          <p:spPr>
            <a:xfrm>
              <a:off x="0" y="-9525"/>
              <a:ext cx="15443230" cy="54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393CD6A-F920-A63B-91E5-947861025262}"/>
              </a:ext>
            </a:extLst>
          </p:cNvPr>
          <p:cNvSpPr txBox="1"/>
          <p:nvPr/>
        </p:nvSpPr>
        <p:spPr>
          <a:xfrm>
            <a:off x="1727817" y="487009"/>
            <a:ext cx="155314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</a:rPr>
              <a:t>OOPS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BE5ADAD-2532-7AF1-675A-ABEF2E71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233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3A260-381B-4AC4-CFDA-AF5AFF41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234C3E1-9688-0CE6-0FB5-D22EA3369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089" y="0"/>
            <a:ext cx="13056216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787BC-5840-87EA-435B-4B72FA483A1C}"/>
              </a:ext>
            </a:extLst>
          </p:cNvPr>
          <p:cNvSpPr txBox="1"/>
          <p:nvPr/>
        </p:nvSpPr>
        <p:spPr>
          <a:xfrm>
            <a:off x="10180320" y="9403080"/>
            <a:ext cx="4206240" cy="369332"/>
          </a:xfrm>
          <a:prstGeom prst="rect">
            <a:avLst/>
          </a:prstGeom>
          <a:solidFill>
            <a:srgbClr val="DED9CB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7F583-FD8B-AC92-B8FE-1C65BFB7101D}"/>
              </a:ext>
            </a:extLst>
          </p:cNvPr>
          <p:cNvSpPr txBox="1"/>
          <p:nvPr/>
        </p:nvSpPr>
        <p:spPr>
          <a:xfrm>
            <a:off x="4038600" y="9403080"/>
            <a:ext cx="4206240" cy="369332"/>
          </a:xfrm>
          <a:prstGeom prst="rect">
            <a:avLst/>
          </a:prstGeom>
          <a:solidFill>
            <a:srgbClr val="DED9CB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08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5DD2-52C2-F0B0-414D-5CC48BBF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35BD14-C552-C1FB-CE7E-AC843A09B767}"/>
              </a:ext>
            </a:extLst>
          </p:cNvPr>
          <p:cNvSpPr/>
          <p:nvPr/>
        </p:nvSpPr>
        <p:spPr>
          <a:xfrm>
            <a:off x="-731615" y="-10144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CD1CB5D-CFE9-B22E-FE3D-88A4E4FEB6BD}"/>
              </a:ext>
            </a:extLst>
          </p:cNvPr>
          <p:cNvSpPr/>
          <p:nvPr/>
        </p:nvSpPr>
        <p:spPr>
          <a:xfrm>
            <a:off x="-1100965" y="94609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201743B-514B-4F84-EF9B-AD99E10953DB}"/>
              </a:ext>
            </a:extLst>
          </p:cNvPr>
          <p:cNvGrpSpPr/>
          <p:nvPr/>
        </p:nvGrpSpPr>
        <p:grpSpPr>
          <a:xfrm>
            <a:off x="1195551" y="1379249"/>
            <a:ext cx="16496396" cy="9034396"/>
            <a:chOff x="-1619640" y="-3108952"/>
            <a:chExt cx="19894795" cy="105913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0D4155-7BC0-0AB0-9506-23231EF5EF75}"/>
                </a:ext>
              </a:extLst>
            </p:cNvPr>
            <p:cNvSpPr txBox="1"/>
            <p:nvPr/>
          </p:nvSpPr>
          <p:spPr>
            <a:xfrm>
              <a:off x="-1619640" y="-3108952"/>
              <a:ext cx="19894795" cy="10591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 fontAlgn="base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b="1" u="sng"/>
                <a:t>Understanding Classes</a:t>
              </a:r>
              <a:r>
                <a:rPr lang="en-US" sz="4000" u="sng"/>
                <a:t> </a:t>
              </a:r>
            </a:p>
            <a:p>
              <a:pPr marL="1428750" lvl="2" indent="-514350" algn="just" fontAlgn="base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500"/>
                <a:t>A class in C# is a template or blueprint used to create objects. It defines what kind of data an object will hold and what actions or behavior it will perform. </a:t>
              </a:r>
            </a:p>
            <a:p>
              <a:pPr marL="1428750" lvl="2" indent="-51435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500"/>
                <a:t>We need classes to model real-world entities in code by grouping related data and behaviors together, allowing for organized, reusable, and scalable programming.</a:t>
              </a:r>
            </a:p>
            <a:p>
              <a:pPr marL="514350" indent="-514350" fontAlgn="base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b="1" u="sng"/>
                <a:t>Structure of a Class</a:t>
              </a:r>
              <a:r>
                <a:rPr lang="en-US" sz="4000" u="sng"/>
                <a:t> </a:t>
              </a:r>
            </a:p>
            <a:p>
              <a:pPr fontAlgn="base">
                <a:lnSpc>
                  <a:spcPct val="150000"/>
                </a:lnSpc>
              </a:pPr>
              <a:r>
                <a:rPr lang="en-US" sz="3500"/>
                <a:t>	A class usually contains: </a:t>
              </a:r>
            </a:p>
            <a:p>
              <a:pPr marL="1943100" lvl="3" indent="-571500" fontAlgn="base">
                <a:lnSpc>
                  <a:spcPct val="150000"/>
                </a:lnSpc>
                <a:buFont typeface="+mj-lt"/>
                <a:buAutoNum type="romanLcPeriod"/>
              </a:pPr>
              <a:r>
                <a:rPr lang="en-US" sz="3500" b="1"/>
                <a:t>Fields or Properties </a:t>
              </a:r>
              <a:r>
                <a:rPr lang="en-US" sz="3500"/>
                <a:t>→ Represent the data of the object. </a:t>
              </a:r>
            </a:p>
            <a:p>
              <a:pPr marL="1943100" lvl="3" indent="-571500" fontAlgn="base">
                <a:lnSpc>
                  <a:spcPct val="150000"/>
                </a:lnSpc>
                <a:buFont typeface="+mj-lt"/>
                <a:buAutoNum type="romanLcPeriod"/>
              </a:pPr>
              <a:r>
                <a:rPr lang="en-US" sz="3500" b="1"/>
                <a:t>Methods </a:t>
              </a:r>
              <a:r>
                <a:rPr lang="en-US" sz="3500"/>
                <a:t>→ Actions or behaviors the object can perform. </a:t>
              </a:r>
            </a:p>
            <a:p>
              <a:pPr marL="1943100" lvl="3" indent="-571500" fontAlgn="base">
                <a:lnSpc>
                  <a:spcPct val="150000"/>
                </a:lnSpc>
                <a:buFont typeface="+mj-lt"/>
                <a:buAutoNum type="romanLcPeriod"/>
              </a:pPr>
              <a:r>
                <a:rPr lang="en-US" sz="3500" b="1"/>
                <a:t>Constructors</a:t>
              </a:r>
              <a:r>
                <a:rPr lang="en-US" sz="3500"/>
                <a:t> → Special methods to help create objects (we’ll cover this separately). </a:t>
              </a:r>
              <a:endParaRPr lang="en-GB" sz="3500" i="1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1133618-550A-6CF3-FB04-59532CA803B6}"/>
                </a:ext>
              </a:extLst>
            </p:cNvPr>
            <p:cNvSpPr txBox="1"/>
            <p:nvPr/>
          </p:nvSpPr>
          <p:spPr>
            <a:xfrm>
              <a:off x="1" y="-9524"/>
              <a:ext cx="15443230" cy="54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5E53A0E-7D1A-A5A1-5C5C-4213300C4DE1}"/>
              </a:ext>
            </a:extLst>
          </p:cNvPr>
          <p:cNvSpPr txBox="1"/>
          <p:nvPr/>
        </p:nvSpPr>
        <p:spPr>
          <a:xfrm>
            <a:off x="1727817" y="311814"/>
            <a:ext cx="155314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</a:rPr>
              <a:t>Classes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B00DDF-5605-1AB5-D364-4245BD1B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00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1100965" y="94609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1358467" y="1890394"/>
            <a:ext cx="16496396" cy="2808875"/>
            <a:chOff x="-1423162" y="-2586681"/>
            <a:chExt cx="19894795" cy="32929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1423162" y="-2586681"/>
              <a:ext cx="19894795" cy="541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solidFill>
                  <a:schemeClr val="bg1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547547-BEB1-DDD4-1CFE-3E0708C74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37" y="152290"/>
            <a:ext cx="17595986" cy="99354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367A62-43B1-AF3E-3EFC-24061219CDAF}"/>
              </a:ext>
            </a:extLst>
          </p:cNvPr>
          <p:cNvSpPr txBox="1"/>
          <p:nvPr/>
        </p:nvSpPr>
        <p:spPr>
          <a:xfrm>
            <a:off x="680862" y="276865"/>
            <a:ext cx="2702681" cy="883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A47F-B1AB-0D82-9A1F-80C2CAA7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894D36-C3B3-DD98-7B68-2040D7CE276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4F323A-9200-BF66-C3F8-CC4F83F80BF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3434EA-D6CE-768A-2E12-0CEBC0490A19}"/>
              </a:ext>
            </a:extLst>
          </p:cNvPr>
          <p:cNvGrpSpPr/>
          <p:nvPr/>
        </p:nvGrpSpPr>
        <p:grpSpPr>
          <a:xfrm>
            <a:off x="1125415" y="1985186"/>
            <a:ext cx="17162585" cy="2502726"/>
            <a:chOff x="-2906210" y="-2398587"/>
            <a:chExt cx="21900210" cy="29340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78B6EED-DD02-8103-1ADD-4CA25580EB5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541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0A8DD9-EF8F-C960-DE4F-0F16A37796EC}"/>
                </a:ext>
              </a:extLst>
            </p:cNvPr>
            <p:cNvSpPr txBox="1"/>
            <p:nvPr/>
          </p:nvSpPr>
          <p:spPr>
            <a:xfrm>
              <a:off x="0" y="-9525"/>
              <a:ext cx="15443231" cy="54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BA55BF-5201-B0EC-2DDF-857FEE66E1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B662D0-06C8-9FD3-6BB5-C2C3C60C9BFF}"/>
              </a:ext>
            </a:extLst>
          </p:cNvPr>
          <p:cNvSpPr txBox="1"/>
          <p:nvPr/>
        </p:nvSpPr>
        <p:spPr>
          <a:xfrm>
            <a:off x="2917305" y="647517"/>
            <a:ext cx="1363814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>
                <a:ea typeface="+mn-lt"/>
                <a:cs typeface="+mn-lt"/>
              </a:rPr>
              <a:t>Example of a Class in C#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3404C4-73DF-FC33-01EC-10378317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697418A-5647-B595-374C-8CBD42994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2446851"/>
            <a:ext cx="14293516" cy="768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17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496064" y="1774564"/>
            <a:ext cx="15763236" cy="8214555"/>
            <a:chOff x="-967516" y="-2709217"/>
            <a:chExt cx="20026472" cy="40708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967516" y="-2709217"/>
              <a:ext cx="20026472" cy="4070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GB" sz="4000">
                  <a:ea typeface="+mn-lt"/>
                  <a:cs typeface="+mn-lt"/>
                </a:rPr>
                <a:t>A</a:t>
              </a:r>
              <a:r>
                <a:rPr lang="en-US" sz="4000"/>
                <a:t>n object is something you create from a class that you can actually use—it holds real data and can-do things based on what the class describes.</a:t>
              </a:r>
            </a:p>
            <a:p>
              <a:pPr algn="just">
                <a:lnSpc>
                  <a:spcPct val="150000"/>
                </a:lnSpc>
              </a:pPr>
              <a:endParaRPr lang="en-US" sz="4000" b="1"/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4000" b="1"/>
                <a:t>Why Do We Need Objects? </a:t>
              </a:r>
            </a:p>
            <a:p>
              <a:pPr algn="just">
                <a:lnSpc>
                  <a:spcPct val="150000"/>
                </a:lnSpc>
              </a:pPr>
              <a:r>
                <a:rPr lang="en-US" sz="4000"/>
                <a:t> 	We need objects because they bring classes to life, letting us create multiple usable versions with their own data.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4000"/>
                <a:t>Example, from one Car class, we can create different cars like "BMW" and a "Toyota" from the same Car class, each with its own color, engine, and features.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0" cy="23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2069432" y="85819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Objects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77625D4-CF0E-4AE4-DF47-1DB585E695E8}"/>
              </a:ext>
            </a:extLst>
          </p:cNvPr>
          <p:cNvSpPr txBox="1"/>
          <p:nvPr/>
        </p:nvSpPr>
        <p:spPr>
          <a:xfrm>
            <a:off x="2257615" y="7203492"/>
            <a:ext cx="12155676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054E-1C94-780D-4ABB-78687E4A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E5AB4E-D211-BA96-56D6-E49BD852BB9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43C85C-206A-00EC-E74A-C02E4C8A7A3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DD9D410-1663-B4DD-C2E5-4EA4FC154C13}"/>
              </a:ext>
            </a:extLst>
          </p:cNvPr>
          <p:cNvGrpSpPr/>
          <p:nvPr/>
        </p:nvGrpSpPr>
        <p:grpSpPr>
          <a:xfrm>
            <a:off x="1876926" y="1345318"/>
            <a:ext cx="15382374" cy="6341774"/>
            <a:chOff x="-483648" y="-2921938"/>
            <a:chExt cx="19542604" cy="314278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9F8D57-208A-0885-5133-62EC7763A713}"/>
                </a:ext>
              </a:extLst>
            </p:cNvPr>
            <p:cNvSpPr txBox="1"/>
            <p:nvPr/>
          </p:nvSpPr>
          <p:spPr>
            <a:xfrm>
              <a:off x="-483648" y="-2921938"/>
              <a:ext cx="19542604" cy="4102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endParaRPr lang="en-US" sz="40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982056C-1DA1-4A6A-6E30-25B91FC6135A}"/>
                </a:ext>
              </a:extLst>
            </p:cNvPr>
            <p:cNvSpPr txBox="1"/>
            <p:nvPr/>
          </p:nvSpPr>
          <p:spPr>
            <a:xfrm>
              <a:off x="0" y="-9525"/>
              <a:ext cx="15443231" cy="23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9172F9D-246F-6B3B-A3AD-B3347ACC4D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44289BB-DA9E-2A66-DEE1-7D9435AD4B1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619A989-ED0E-5449-2891-2A9585C18CFD}"/>
              </a:ext>
            </a:extLst>
          </p:cNvPr>
          <p:cNvSpPr txBox="1"/>
          <p:nvPr/>
        </p:nvSpPr>
        <p:spPr>
          <a:xfrm>
            <a:off x="2069432" y="85819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Objects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115DED5-0338-176D-5D10-AFE3F4BF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8AE183E-4905-FBB0-1D0E-76232F95E126}"/>
              </a:ext>
            </a:extLst>
          </p:cNvPr>
          <p:cNvSpPr txBox="1"/>
          <p:nvPr/>
        </p:nvSpPr>
        <p:spPr>
          <a:xfrm>
            <a:off x="2257615" y="7203492"/>
            <a:ext cx="12155676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</p:txBody>
      </p:sp>
      <p:pic>
        <p:nvPicPr>
          <p:cNvPr id="4098" name="Picture 2" descr="Object Oriented Programming Principles">
            <a:extLst>
              <a:ext uri="{FF2B5EF4-FFF2-40B4-BE49-F238E27FC236}">
                <a16:creationId xmlns:a16="http://schemas.microsoft.com/office/drawing/2014/main" id="{FF85C471-BEF0-35C4-C8E9-8CC3E16DC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65" y="1464219"/>
            <a:ext cx="16162330" cy="842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C49803-3C3C-6BE9-29C2-7A713FB3F659}"/>
              </a:ext>
            </a:extLst>
          </p:cNvPr>
          <p:cNvSpPr txBox="1"/>
          <p:nvPr/>
        </p:nvSpPr>
        <p:spPr>
          <a:xfrm>
            <a:off x="2708476" y="8887468"/>
            <a:ext cx="1597306" cy="369332"/>
          </a:xfrm>
          <a:prstGeom prst="rect">
            <a:avLst/>
          </a:prstGeom>
          <a:solidFill>
            <a:srgbClr val="F9875A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43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1329-13CF-09A1-8B7A-09FCA5AE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82F27-92D2-17D6-0F63-6F79BCA1FDCB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4E59E2C-04E8-B786-709A-47E08453DF46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9A1E4E6-2359-3060-3486-39EBDF58BF31}"/>
              </a:ext>
            </a:extLst>
          </p:cNvPr>
          <p:cNvGrpSpPr/>
          <p:nvPr/>
        </p:nvGrpSpPr>
        <p:grpSpPr>
          <a:xfrm>
            <a:off x="1876926" y="1104686"/>
            <a:ext cx="15382374" cy="9137885"/>
            <a:chOff x="-483648" y="-3041188"/>
            <a:chExt cx="19542604" cy="452845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01E2F24-C4CC-AB50-D534-5A7CA208ED2B}"/>
                </a:ext>
              </a:extLst>
            </p:cNvPr>
            <p:cNvSpPr txBox="1"/>
            <p:nvPr/>
          </p:nvSpPr>
          <p:spPr>
            <a:xfrm>
              <a:off x="-483648" y="-3041188"/>
              <a:ext cx="19542604" cy="45284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42950" indent="-7429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GB" sz="4000" b="1"/>
                <a:t>Memory Perspective</a:t>
              </a:r>
            </a:p>
            <a:p>
              <a:pPr algn="just">
                <a:lnSpc>
                  <a:spcPct val="150000"/>
                </a:lnSpc>
              </a:pPr>
              <a:r>
                <a:rPr lang="en-GB" sz="4000" b="1"/>
                <a:t>		</a:t>
              </a:r>
              <a:r>
                <a:rPr lang="en-US" sz="4000"/>
                <a:t>A class doesn’t take up memory on its own—memory is only used when you make an object from it.</a:t>
              </a:r>
            </a:p>
            <a:p>
              <a:pPr marL="742950" indent="-742950" algn="just">
                <a:lnSpc>
                  <a:spcPct val="150000"/>
                </a:lnSpc>
                <a:buFont typeface="+mj-lt"/>
                <a:buAutoNum type="arabicPeriod" startAt="2"/>
              </a:pPr>
              <a:r>
                <a:rPr lang="en-GB" sz="4000" b="1"/>
                <a:t>Syntax of Object Creation in C#</a:t>
              </a:r>
            </a:p>
            <a:p>
              <a:pPr marL="742950" indent="-742950" algn="just">
                <a:lnSpc>
                  <a:spcPct val="150000"/>
                </a:lnSpc>
                <a:buFont typeface="+mj-lt"/>
                <a:buAutoNum type="arabicPeriod" startAt="2"/>
              </a:pPr>
              <a:endParaRPr lang="en-US" sz="4000"/>
            </a:p>
            <a:p>
              <a:pPr marL="742950" indent="-742950" algn="just">
                <a:lnSpc>
                  <a:spcPct val="150000"/>
                </a:lnSpc>
                <a:buFont typeface="+mj-lt"/>
                <a:buAutoNum type="arabicPeriod" startAt="2"/>
              </a:pPr>
              <a:endParaRPr lang="en-US" sz="4000">
                <a:ea typeface="+mn-lt"/>
                <a:cs typeface="+mn-lt"/>
              </a:endParaRPr>
            </a:p>
            <a:p>
              <a:pPr marL="742950" indent="-742950" algn="just">
                <a:lnSpc>
                  <a:spcPct val="150000"/>
                </a:lnSpc>
                <a:buFont typeface="+mj-lt"/>
                <a:buAutoNum type="arabicPeriod" startAt="3"/>
              </a:pPr>
              <a:r>
                <a:rPr lang="en-US" sz="4000" b="1"/>
                <a:t>Creating Objects from the Class:</a:t>
              </a:r>
              <a:r>
                <a:rPr lang="en-US" sz="4000"/>
                <a:t> </a:t>
              </a:r>
              <a:endParaRPr lang="en-US" sz="40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C54136-59A6-89C9-F9DE-607EA57F9F27}"/>
                </a:ext>
              </a:extLst>
            </p:cNvPr>
            <p:cNvSpPr txBox="1"/>
            <p:nvPr/>
          </p:nvSpPr>
          <p:spPr>
            <a:xfrm>
              <a:off x="0" y="-9525"/>
              <a:ext cx="15443231" cy="23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2E2849F-D85F-CD30-EAA3-920BD124D6C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3C6A836-E391-52A6-C5B2-0A81E923DAA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C4B330A-0184-4933-EC6A-0AD12491FFF4}"/>
              </a:ext>
            </a:extLst>
          </p:cNvPr>
          <p:cNvSpPr txBox="1"/>
          <p:nvPr/>
        </p:nvSpPr>
        <p:spPr>
          <a:xfrm>
            <a:off x="2069432" y="85819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Objects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28E1591-5D12-51A9-8B7C-CF663375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521C91F-86DA-1B9B-CC5E-A8A413E53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73" y="7537498"/>
            <a:ext cx="11892613" cy="25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4F195D0A-1785-2730-DF5D-2828CA1E7DD4}"/>
              </a:ext>
            </a:extLst>
          </p:cNvPr>
          <p:cNvSpPr txBox="1"/>
          <p:nvPr/>
        </p:nvSpPr>
        <p:spPr>
          <a:xfrm>
            <a:off x="2257615" y="7203492"/>
            <a:ext cx="12155676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BD2B7991-802B-5AF0-66C2-43B4DAA9C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238" y="4825124"/>
            <a:ext cx="12085947" cy="164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88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E937C6-58B0-AF32-AB14-FE575915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 descr="Object Oriented Programming in Python : Learn by Examples">
            <a:extLst>
              <a:ext uri="{FF2B5EF4-FFF2-40B4-BE49-F238E27FC236}">
                <a16:creationId xmlns:a16="http://schemas.microsoft.com/office/drawing/2014/main" id="{A143391E-E2F3-FBBA-9D7F-3B00CB404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463" y="378995"/>
            <a:ext cx="16074190" cy="9529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426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262351" y="1905063"/>
            <a:ext cx="14286418" cy="7545912"/>
            <a:chOff x="-592161" y="-1816283"/>
            <a:chExt cx="18438681" cy="10061209"/>
          </a:xfrm>
        </p:grpSpPr>
        <p:sp>
          <p:nvSpPr>
            <p:cNvPr id="5" name="TextBox 5"/>
            <p:cNvSpPr txBox="1"/>
            <p:nvPr/>
          </p:nvSpPr>
          <p:spPr>
            <a:xfrm>
              <a:off x="-592161" y="-1816283"/>
              <a:ext cx="18438681" cy="100612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000" b="1"/>
                <a:t>What Is Inheritance?</a:t>
              </a:r>
              <a:br>
                <a:rPr lang="en-US" sz="3000"/>
              </a:br>
              <a:r>
                <a:rPr lang="en-US" sz="3000"/>
                <a:t>Inheritance lets one class use code from another. It's like passing down traits from a parent to a child.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000" b="1"/>
                <a:t>Why Use It?</a:t>
              </a:r>
              <a:endParaRPr lang="en-US" sz="3000"/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Reuse code instead of rewriting it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Make better organized and cleaner programs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Create specific types from general ones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 startAt="3"/>
              </a:pPr>
              <a:r>
                <a:rPr lang="en-IN" sz="3000" b="1"/>
                <a:t>Key Terms: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3000" b="1"/>
                <a:t>Base Class</a:t>
              </a:r>
              <a:r>
                <a:rPr lang="en-US" sz="3000"/>
                <a:t>: The original class (parent)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GB" sz="3000">
                  <a:ea typeface="Calibri"/>
                  <a:cs typeface="Calibri"/>
                </a:rPr>
                <a:t>Derived Class: The class that inherits (child)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GB" sz="3000">
                  <a:ea typeface="Calibri"/>
                  <a:cs typeface="Calibri"/>
                </a:rPr>
                <a:t>Symbol ‘:’ :Used to show inheritance in C#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" y="-9526"/>
              <a:ext cx="15443232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262351" y="316875"/>
            <a:ext cx="1408867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Inheritance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AE183D-3821-045C-F967-1882BA62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47E16CC8-0038-6B7D-E1F2-E7A86414D5CE}"/>
              </a:ext>
            </a:extLst>
          </p:cNvPr>
          <p:cNvSpPr txBox="1"/>
          <p:nvPr/>
        </p:nvSpPr>
        <p:spPr>
          <a:xfrm>
            <a:off x="2262351" y="316875"/>
            <a:ext cx="1408867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Inheritance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4638E-BE32-1B4E-58C5-1192A8C6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351" y="2171947"/>
            <a:ext cx="14088670" cy="7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3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23C76-A76D-FD57-C306-529714A1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2D71D5-8A32-FA3A-BB41-25D2FFEDE27A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08A4FC-9277-BE0C-BBA6-60C708C75F5E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5E8C3D1-ADE4-CDD0-F79A-88BA5E079711}"/>
              </a:ext>
            </a:extLst>
          </p:cNvPr>
          <p:cNvGrpSpPr/>
          <p:nvPr/>
        </p:nvGrpSpPr>
        <p:grpSpPr>
          <a:xfrm>
            <a:off x="2562452" y="2568512"/>
            <a:ext cx="14656952" cy="2526237"/>
            <a:chOff x="-483648" y="-2758013"/>
            <a:chExt cx="19542604" cy="336831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56CF609-BD25-13D2-CCCE-1533034FDF92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CFA0580-4734-C504-F279-FEF100D1810B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89A039E-72CF-BF52-0C8F-46AA852BA47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D41862-EA3B-A8A0-1A53-7555CEAE01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269C801-CE2F-0A53-1C72-FCC3AD7765F0}"/>
              </a:ext>
            </a:extLst>
          </p:cNvPr>
          <p:cNvSpPr txBox="1"/>
          <p:nvPr/>
        </p:nvSpPr>
        <p:spPr>
          <a:xfrm>
            <a:off x="1943340" y="239343"/>
            <a:ext cx="149249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Inheritance Example in C#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9EB9864-4FAD-C716-3E1C-A7476B74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85316-C2DC-C259-954E-A2371F391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146" y="1624338"/>
            <a:ext cx="12832587" cy="81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51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EBFA-6045-C154-1DC5-966ACA13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0600C6-76DE-1047-A266-033B1660EA0E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346311-5804-5B73-CE91-06DE5789CBCE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ACF2EE6-A540-E5EF-A878-6E75B6B6D15B}"/>
              </a:ext>
            </a:extLst>
          </p:cNvPr>
          <p:cNvGrpSpPr/>
          <p:nvPr/>
        </p:nvGrpSpPr>
        <p:grpSpPr>
          <a:xfrm>
            <a:off x="2562452" y="2568512"/>
            <a:ext cx="14656952" cy="2526237"/>
            <a:chOff x="-483648" y="-2758013"/>
            <a:chExt cx="19542604" cy="336831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A615064-1AA9-A0F5-8EEF-94FF9BD9BCF1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F3F4727-6620-E43F-DEA2-FA3C7D4E205E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2427E3B-E129-E55C-B746-58A38F33BDC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DEBC51-3FDB-EDDC-FD16-453BD21C93D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E263B5C-1E71-6F42-2371-DF3BC93D1760}"/>
              </a:ext>
            </a:extLst>
          </p:cNvPr>
          <p:cNvSpPr txBox="1"/>
          <p:nvPr/>
        </p:nvSpPr>
        <p:spPr>
          <a:xfrm>
            <a:off x="1967403" y="517415"/>
            <a:ext cx="14924934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Types of Inheritance Supported in C#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DDBFD4-9A4A-2C44-456B-4F4ED20A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16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D020027-2D65-0B4F-80AC-F14D67F3F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453" y="3340091"/>
            <a:ext cx="13575160" cy="565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330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23DF-86B5-2508-FE70-0FEA3C8F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BDCE54B4-8215-12C2-2E26-87BAB036FC5A}"/>
              </a:ext>
            </a:extLst>
          </p:cNvPr>
          <p:cNvSpPr txBox="1"/>
          <p:nvPr/>
        </p:nvSpPr>
        <p:spPr>
          <a:xfrm>
            <a:off x="1" y="87569"/>
            <a:ext cx="18071432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Types of Inheritance Supported in C#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7786B37-65FC-9412-8BA6-FC448263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DC0EFD-12F9-61BF-DE1C-98EA9D83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904" y="1990138"/>
            <a:ext cx="5366084" cy="7201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1F034B-B3D0-91E9-D23C-D9B6D9325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11" y="2020198"/>
            <a:ext cx="5366083" cy="7201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2D315D-FBDC-B168-B755-5326A416B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341" y="1990138"/>
            <a:ext cx="5366084" cy="72019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D9B28C-258C-9E6A-D66C-66E0C11B801C}"/>
              </a:ext>
            </a:extLst>
          </p:cNvPr>
          <p:cNvSpPr txBox="1"/>
          <p:nvPr/>
        </p:nvSpPr>
        <p:spPr>
          <a:xfrm>
            <a:off x="824031" y="2185735"/>
            <a:ext cx="26500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200"/>
          </a:p>
          <a:p>
            <a:endParaRPr lang="en-IN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F6BEA-D1E3-1D0F-D35F-38DA8A6F8E2F}"/>
              </a:ext>
            </a:extLst>
          </p:cNvPr>
          <p:cNvSpPr txBox="1"/>
          <p:nvPr/>
        </p:nvSpPr>
        <p:spPr>
          <a:xfrm>
            <a:off x="12130904" y="2185736"/>
            <a:ext cx="1849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200"/>
          </a:p>
          <a:p>
            <a:endParaRPr lang="en-IN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FA7B9B-BED8-8542-0F25-9AAE218151A5}"/>
              </a:ext>
            </a:extLst>
          </p:cNvPr>
          <p:cNvSpPr txBox="1"/>
          <p:nvPr/>
        </p:nvSpPr>
        <p:spPr>
          <a:xfrm>
            <a:off x="6624320" y="2172280"/>
            <a:ext cx="241139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8CDD4A-4E79-F3EC-2F49-9B470AE108D8}"/>
              </a:ext>
            </a:extLst>
          </p:cNvPr>
          <p:cNvSpPr txBox="1"/>
          <p:nvPr/>
        </p:nvSpPr>
        <p:spPr>
          <a:xfrm>
            <a:off x="12313920" y="2647401"/>
            <a:ext cx="447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220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31709-6FBD-4BB9-AE7E-0CF23090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49395A-A4F3-8113-0E08-46DCFC29EC1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6ABB066-5AFF-1229-8F45-6716504F2D55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A614DE4-2351-DDC6-5D2C-4E6965A0CE1B}"/>
              </a:ext>
            </a:extLst>
          </p:cNvPr>
          <p:cNvGrpSpPr/>
          <p:nvPr/>
        </p:nvGrpSpPr>
        <p:grpSpPr>
          <a:xfrm>
            <a:off x="1780674" y="1837663"/>
            <a:ext cx="15015410" cy="8079135"/>
            <a:chOff x="-1580610" y="-2592098"/>
            <a:chExt cx="20020547" cy="1077217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421B0F8-FAC8-D0CF-FCDB-5E0B31A1AD3B}"/>
                </a:ext>
              </a:extLst>
            </p:cNvPr>
            <p:cNvSpPr txBox="1"/>
            <p:nvPr/>
          </p:nvSpPr>
          <p:spPr>
            <a:xfrm>
              <a:off x="-1580610" y="-2592098"/>
              <a:ext cx="20020547" cy="107721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/>
              </a:pPr>
              <a:r>
                <a:rPr lang="en-US" sz="3500" b="1"/>
                <a:t>What is Abstraction?</a:t>
              </a:r>
            </a:p>
            <a:p>
              <a:r>
                <a:rPr lang="en-US" sz="3500"/>
                <a:t>	Hides internal details and shows only essential features</a:t>
              </a:r>
            </a:p>
            <a:p>
              <a:r>
                <a:rPr lang="en-US" sz="3500"/>
                <a:t>	Answers </a:t>
              </a:r>
              <a:r>
                <a:rPr lang="en-US" sz="3500" b="1"/>
                <a:t>“What to do?”</a:t>
              </a:r>
              <a:r>
                <a:rPr lang="en-US" sz="3500"/>
                <a:t>, not </a:t>
              </a:r>
              <a:r>
                <a:rPr lang="en-US" sz="3500" b="1"/>
                <a:t>“How to do it?”</a:t>
              </a:r>
            </a:p>
            <a:p>
              <a:endParaRPr lang="en-US" sz="3500"/>
            </a:p>
            <a:p>
              <a:pPr marL="514350" indent="-514350">
                <a:buFont typeface="+mj-lt"/>
                <a:buAutoNum type="arabicPeriod" startAt="2"/>
              </a:pPr>
              <a:r>
                <a:rPr lang="en-US" sz="3500" b="1"/>
                <a:t>Why Use Abstraction?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/>
                <a:t>Reduces complexity by focusing on important parts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/>
                <a:t>Provides security by hiding sensitive logic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/>
                <a:t>Makes interaction easier without knowing internal details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/>
                <a:t>Supports clean, modular, and extendable code</a:t>
              </a:r>
            </a:p>
            <a:p>
              <a:pPr lvl="1"/>
              <a:endParaRPr lang="en-US" sz="3500"/>
            </a:p>
            <a:p>
              <a:pPr marL="514350" indent="-514350">
                <a:buFont typeface="+mj-lt"/>
                <a:buAutoNum type="arabicPeriod" startAt="3"/>
              </a:pPr>
              <a:r>
                <a:rPr lang="en-US" sz="3500" b="1"/>
                <a:t>Advantages: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 b="1"/>
                <a:t>Simplifies Code</a:t>
              </a:r>
              <a:r>
                <a:rPr lang="en-US" sz="3500"/>
                <a:t> – Only shows what matters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 b="1"/>
                <a:t>Reduces Complexity</a:t>
              </a:r>
              <a:r>
                <a:rPr lang="en-US" sz="3500"/>
                <a:t> – Work without knowing the inside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 b="1"/>
                <a:t>Increases Security</a:t>
              </a:r>
              <a:r>
                <a:rPr lang="en-US" sz="3500"/>
                <a:t> – Hides sensitive data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 b="1"/>
                <a:t>Improves Modularity</a:t>
              </a:r>
              <a:r>
                <a:rPr lang="en-US" sz="3500"/>
                <a:t> – Easy to maintain and extend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71D1331-8B1E-3E3A-6FAD-7F4568B6F31C}"/>
                </a:ext>
              </a:extLst>
            </p:cNvPr>
            <p:cNvSpPr txBox="1"/>
            <p:nvPr/>
          </p:nvSpPr>
          <p:spPr>
            <a:xfrm>
              <a:off x="-1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60008A4-BA62-E266-1778-A0967634DCB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D72C6E9-5067-7C8A-141B-BF3949B7E50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2909893-C4DE-D48E-C16B-C08CFEAE637A}"/>
              </a:ext>
            </a:extLst>
          </p:cNvPr>
          <p:cNvSpPr txBox="1"/>
          <p:nvPr/>
        </p:nvSpPr>
        <p:spPr>
          <a:xfrm>
            <a:off x="1780673" y="152290"/>
            <a:ext cx="1448163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Abstraction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67CACD5-F26C-E074-3BA6-443AA88624F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FAD7FAA-7954-0BC6-C6A2-210EC0CC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18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135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FA1B-9B34-62EA-FE6E-A67F8EBA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AE3FBE-7D18-6D6A-6664-C3FBEE662797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7B5D0C-D53E-6B36-CB89-5C74FA27E37C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BC4059-0D0B-108E-65B2-77BE456446F8}"/>
              </a:ext>
            </a:extLst>
          </p:cNvPr>
          <p:cNvGrpSpPr/>
          <p:nvPr/>
        </p:nvGrpSpPr>
        <p:grpSpPr>
          <a:xfrm>
            <a:off x="1780674" y="1837663"/>
            <a:ext cx="14481637" cy="6468221"/>
            <a:chOff x="-1580610" y="-2592098"/>
            <a:chExt cx="19308850" cy="278255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A0D922B-4FD9-6BAE-505F-8688BBB2935C}"/>
                </a:ext>
              </a:extLst>
            </p:cNvPr>
            <p:cNvSpPr txBox="1"/>
            <p:nvPr/>
          </p:nvSpPr>
          <p:spPr>
            <a:xfrm>
              <a:off x="-1580610" y="-2592098"/>
              <a:ext cx="19308850" cy="2671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0772A1A-71B9-0C7B-5A55-913FA1174682}"/>
                </a:ext>
              </a:extLst>
            </p:cNvPr>
            <p:cNvSpPr txBox="1"/>
            <p:nvPr/>
          </p:nvSpPr>
          <p:spPr>
            <a:xfrm>
              <a:off x="-1" y="-9525"/>
              <a:ext cx="15443231" cy="199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D5C3DFA-7CA8-E159-D8AD-B48481E968A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61BF78C-F253-0B5D-7F84-486671E5731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E75DB6-9476-C2C8-5251-5D2FC7F09FB7}"/>
              </a:ext>
            </a:extLst>
          </p:cNvPr>
          <p:cNvSpPr txBox="1"/>
          <p:nvPr/>
        </p:nvSpPr>
        <p:spPr>
          <a:xfrm>
            <a:off x="1780674" y="408840"/>
            <a:ext cx="1448163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Abstraction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C0966C0-BFCB-D3C6-7603-361D169E7680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6191F5B-DDAF-0EDB-60D9-C702D87C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080C857-9D46-71F2-568E-D081077D6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77" y="2037768"/>
            <a:ext cx="11593445" cy="62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71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707A7-F2F3-F549-66D8-7574D140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94A1D-54D2-F5C5-E4B8-DFCEDA45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0" t="5807" r="7794" b="11936"/>
          <a:stretch>
            <a:fillRect/>
          </a:stretch>
        </p:blipFill>
        <p:spPr>
          <a:xfrm>
            <a:off x="883920" y="495300"/>
            <a:ext cx="16520160" cy="9296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110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13F47-848D-94C9-5788-525FDFC7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F9CFA2-0451-E09C-4BA1-072118775B5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DE6A7A-CB00-E946-68C3-6682BFF1ACF7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15FCEB3-703A-0F38-8E5C-BCF37F660DB4}"/>
              </a:ext>
            </a:extLst>
          </p:cNvPr>
          <p:cNvGrpSpPr/>
          <p:nvPr/>
        </p:nvGrpSpPr>
        <p:grpSpPr>
          <a:xfrm>
            <a:off x="1780674" y="1837663"/>
            <a:ext cx="14481637" cy="8007577"/>
            <a:chOff x="-1580610" y="-2592098"/>
            <a:chExt cx="19308850" cy="1067676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004CBA-332B-E9BA-DBAC-1A77262578F3}"/>
                </a:ext>
              </a:extLst>
            </p:cNvPr>
            <p:cNvSpPr txBox="1"/>
            <p:nvPr/>
          </p:nvSpPr>
          <p:spPr>
            <a:xfrm>
              <a:off x="-1580610" y="-2592098"/>
              <a:ext cx="19308850" cy="10676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/>
              </a:pPr>
              <a:r>
                <a:rPr lang="en-US" sz="3200" b="1"/>
                <a:t>What is Abstraction?</a:t>
              </a:r>
            </a:p>
            <a:p>
              <a:r>
                <a:rPr lang="en-US" sz="3200"/>
                <a:t>	Hides internal details and shows only essential features</a:t>
              </a:r>
            </a:p>
            <a:p>
              <a:r>
                <a:rPr lang="en-US" sz="3200"/>
                <a:t>	Answers </a:t>
              </a:r>
              <a:r>
                <a:rPr lang="en-US" sz="3200" b="1"/>
                <a:t>“What to do?”</a:t>
              </a:r>
              <a:r>
                <a:rPr lang="en-US" sz="3200"/>
                <a:t>, not </a:t>
              </a:r>
              <a:r>
                <a:rPr lang="en-US" sz="3200" b="1"/>
                <a:t>“How to do it?”</a:t>
              </a:r>
            </a:p>
            <a:p>
              <a:endParaRPr lang="en-US" sz="3200"/>
            </a:p>
            <a:p>
              <a:pPr marL="514350" indent="-514350">
                <a:buFont typeface="+mj-lt"/>
                <a:buAutoNum type="arabicPeriod" startAt="2"/>
              </a:pPr>
              <a:r>
                <a:rPr lang="en-US" sz="3200" b="1"/>
                <a:t>Why Use Abstraction?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/>
                <a:t>Reduces complexity by focusing on important parts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/>
                <a:t>Provides security by hiding sensitive logic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/>
                <a:t>Makes interaction easier without knowing internal details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/>
                <a:t>Supports clean, modular, and extendable code</a:t>
              </a:r>
            </a:p>
            <a:p>
              <a:pPr lvl="1"/>
              <a:endParaRPr lang="en-US" sz="3200"/>
            </a:p>
            <a:p>
              <a:pPr marL="514350" indent="-514350">
                <a:buFont typeface="+mj-lt"/>
                <a:buAutoNum type="arabicPeriod" startAt="3"/>
              </a:pPr>
              <a:r>
                <a:rPr lang="en-US" sz="3200" b="1"/>
                <a:t>Advantages: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 b="1"/>
                <a:t>Simplifies Code</a:t>
              </a:r>
              <a:r>
                <a:rPr lang="en-US" sz="3200"/>
                <a:t> – Only shows what matters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 b="1"/>
                <a:t>Reduces Complexity</a:t>
              </a:r>
              <a:r>
                <a:rPr lang="en-US" sz="3200"/>
                <a:t> – Work without knowing the inside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 b="1"/>
                <a:t>Increases Security</a:t>
              </a:r>
              <a:r>
                <a:rPr lang="en-US" sz="3200"/>
                <a:t> – Hides sensitive data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 b="1"/>
                <a:t>Improves Modularity</a:t>
              </a:r>
              <a:r>
                <a:rPr lang="en-US" sz="3200"/>
                <a:t> – Easy to maintain and extend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EB59057-15F7-662A-B667-6E5D28FED910}"/>
                </a:ext>
              </a:extLst>
            </p:cNvPr>
            <p:cNvSpPr txBox="1"/>
            <p:nvPr/>
          </p:nvSpPr>
          <p:spPr>
            <a:xfrm>
              <a:off x="-1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BCA08A4-FC0F-7AA6-B63C-DF7626E3E27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079A640-5DAE-19D2-82F1-095264EEB87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7A1D35F-BA17-BBD5-F91F-27DB5C2831A7}"/>
              </a:ext>
            </a:extLst>
          </p:cNvPr>
          <p:cNvSpPr txBox="1"/>
          <p:nvPr/>
        </p:nvSpPr>
        <p:spPr>
          <a:xfrm>
            <a:off x="1780674" y="408840"/>
            <a:ext cx="1448163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Interfaces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1C32FE3-1C9B-192B-DC84-10500CE1F60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9A8EDC-5504-B59E-BE39-B13CF4A2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21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06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7CBE-B5D9-15E5-9697-1917F3D4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F05D4A-8E8C-49A8-FB38-C8C94E6F306D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A331570-45C1-E88B-1913-6FD3DD11E65A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3749B5-9165-310F-2326-805449DD9F1A}"/>
              </a:ext>
            </a:extLst>
          </p:cNvPr>
          <p:cNvGrpSpPr/>
          <p:nvPr/>
        </p:nvGrpSpPr>
        <p:grpSpPr>
          <a:xfrm>
            <a:off x="1780674" y="1837663"/>
            <a:ext cx="14481637" cy="6468221"/>
            <a:chOff x="-1580610" y="-2592098"/>
            <a:chExt cx="19308850" cy="278255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98CDF5-C3AC-39C3-F54D-CB90E10971DC}"/>
                </a:ext>
              </a:extLst>
            </p:cNvPr>
            <p:cNvSpPr txBox="1"/>
            <p:nvPr/>
          </p:nvSpPr>
          <p:spPr>
            <a:xfrm>
              <a:off x="-1580610" y="-2592098"/>
              <a:ext cx="19308850" cy="2671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6A3D3BB-DB3C-02E5-154E-97568F7B01FE}"/>
                </a:ext>
              </a:extLst>
            </p:cNvPr>
            <p:cNvSpPr txBox="1"/>
            <p:nvPr/>
          </p:nvSpPr>
          <p:spPr>
            <a:xfrm>
              <a:off x="-1" y="-9525"/>
              <a:ext cx="15443231" cy="199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955015B-F296-C4B4-3FE3-01B3E0D1803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61855FD-0927-90C3-DBDE-62292CD652A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EFD644-645D-B4C8-1719-939999DD164E}"/>
              </a:ext>
            </a:extLst>
          </p:cNvPr>
          <p:cNvSpPr txBox="1"/>
          <p:nvPr/>
        </p:nvSpPr>
        <p:spPr>
          <a:xfrm>
            <a:off x="1780674" y="408840"/>
            <a:ext cx="1448163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Interface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F4F9B5D-86FD-A741-887E-F43A413E22C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0C1A2C1-EF4E-EBE8-0922-1D75A53E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22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E917ACD-D70F-12F1-E0A9-71EA7C620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130" y="1850205"/>
            <a:ext cx="12025217" cy="740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278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224C-E4B3-0513-61C2-AEB2B269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EC6856-2336-1443-E5D9-A6ABB88F0F3B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C2F5FE4-F5FC-809D-E05C-60A8ED01D445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260D16-3315-11CE-042B-B55504E4559F}"/>
              </a:ext>
            </a:extLst>
          </p:cNvPr>
          <p:cNvGrpSpPr/>
          <p:nvPr/>
        </p:nvGrpSpPr>
        <p:grpSpPr>
          <a:xfrm>
            <a:off x="1780674" y="1837663"/>
            <a:ext cx="14481637" cy="6468221"/>
            <a:chOff x="-1580610" y="-2592098"/>
            <a:chExt cx="19308850" cy="278255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75ECC9E-1B55-77C1-685F-5DE3033C5E53}"/>
                </a:ext>
              </a:extLst>
            </p:cNvPr>
            <p:cNvSpPr txBox="1"/>
            <p:nvPr/>
          </p:nvSpPr>
          <p:spPr>
            <a:xfrm>
              <a:off x="-1580610" y="-2592098"/>
              <a:ext cx="19308850" cy="2671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BB0446-7FB9-D12F-5FEF-0D41772748C1}"/>
                </a:ext>
              </a:extLst>
            </p:cNvPr>
            <p:cNvSpPr txBox="1"/>
            <p:nvPr/>
          </p:nvSpPr>
          <p:spPr>
            <a:xfrm>
              <a:off x="-1" y="-9525"/>
              <a:ext cx="15443231" cy="199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0A32C64-C95F-316D-C334-85269A4DCD0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49E8874-E327-796C-480A-1E2A38A2433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1BB25C-3641-1B3E-1B0E-455930E3C04D}"/>
              </a:ext>
            </a:extLst>
          </p:cNvPr>
          <p:cNvSpPr txBox="1"/>
          <p:nvPr/>
        </p:nvSpPr>
        <p:spPr>
          <a:xfrm>
            <a:off x="1227221" y="408840"/>
            <a:ext cx="16289255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>
                <a:ea typeface="+mn-lt"/>
                <a:cs typeface="+mn-lt"/>
                <a:sym typeface="Heebo Black"/>
              </a:rPr>
              <a:t>Difference between Interface And Abstraction</a:t>
            </a:r>
            <a:endParaRPr lang="en-US" sz="800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8544A36-43A0-0FA9-AFBF-D3ACE1D7178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A851D40-E5FA-1AEE-3FF1-C657BA0D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09313BB-FB02-F318-0A69-9ADBE2F20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119" y="3119896"/>
            <a:ext cx="15015762" cy="664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911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ECAA-14C0-B86C-4AB7-40736730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BE4685-53E6-254F-F5CA-8C25F35FE73F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6BB12C0-FAE1-06D7-6CD2-0FD182C8E537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121DB3C-DC60-738D-7659-690546893E19}"/>
              </a:ext>
            </a:extLst>
          </p:cNvPr>
          <p:cNvGrpSpPr/>
          <p:nvPr/>
        </p:nvGrpSpPr>
        <p:grpSpPr>
          <a:xfrm>
            <a:off x="1854866" y="1596756"/>
            <a:ext cx="15275845" cy="8423075"/>
            <a:chOff x="-1118079" y="-2227359"/>
            <a:chExt cx="19715679" cy="112307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095428-01C6-30D6-6200-39FB9A0FE478}"/>
                </a:ext>
              </a:extLst>
            </p:cNvPr>
            <p:cNvSpPr txBox="1"/>
            <p:nvPr/>
          </p:nvSpPr>
          <p:spPr>
            <a:xfrm>
              <a:off x="-1118079" y="-2227359"/>
              <a:ext cx="19715679" cy="112307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000" b="1"/>
                <a:t>What Is </a:t>
              </a:r>
              <a:r>
                <a:rPr lang="en-IN" sz="3000" b="1"/>
                <a:t>Polymorphism</a:t>
              </a:r>
              <a:r>
                <a:rPr lang="en-US" sz="3000" b="1"/>
                <a:t>?</a:t>
              </a:r>
              <a:br>
                <a:rPr lang="en-US" sz="3000"/>
              </a:br>
              <a:r>
                <a:rPr lang="en-US" sz="3000"/>
                <a:t>Polymorphism means “many forms.” In C#, it lets the same method name do different things based on the context (like different parameters or class types).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000" b="1"/>
                <a:t>Why Use It?</a:t>
              </a:r>
              <a:endParaRPr lang="en-US" sz="3000"/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Write flexible code that works with different object types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Add new features without changing old code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Keep method names consistent across classes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/>
                <a:t>Enable behavior that can change at runtime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 startAt="3"/>
              </a:pPr>
              <a:r>
                <a:rPr lang="en-IN" sz="3000" b="1"/>
                <a:t>Key Terms: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US" sz="3000" b="1"/>
                <a:t>Base Class</a:t>
              </a:r>
              <a:r>
                <a:rPr lang="en-US" sz="3000"/>
                <a:t>: The original class (parent)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GB" sz="3000">
                  <a:ea typeface="Calibri"/>
                  <a:cs typeface="Calibri"/>
                </a:rPr>
                <a:t>Derived Class: The class that inherits (child)</a:t>
              </a:r>
            </a:p>
            <a:p>
              <a:pPr marL="1828800" lvl="3" indent="-457200">
                <a:lnSpc>
                  <a:spcPct val="150000"/>
                </a:lnSpc>
                <a:buFont typeface="Arial"/>
                <a:buChar char="•"/>
              </a:pPr>
              <a:r>
                <a:rPr lang="en-GB" sz="3000">
                  <a:ea typeface="Calibri"/>
                  <a:cs typeface="Calibri"/>
                </a:rPr>
                <a:t>Symbol ‘:’ :Used to show inheritance in C#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E666360-DC3B-AD32-AC1A-88DD9D7039F3}"/>
                </a:ext>
              </a:extLst>
            </p:cNvPr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63A53B8-EDD0-3DF5-F4B7-4BBEB1307EB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5B56DFD-CE24-6144-BEA3-99FB88E4875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25A9E0-DD4A-06C5-7C55-A7CEC2D910A4}"/>
              </a:ext>
            </a:extLst>
          </p:cNvPr>
          <p:cNvSpPr txBox="1"/>
          <p:nvPr/>
        </p:nvSpPr>
        <p:spPr>
          <a:xfrm>
            <a:off x="2262351" y="327178"/>
            <a:ext cx="1408867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Polymorphism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876E82A-7951-0C34-7CCC-419FF5ABCEF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0A712E7-4DA5-D575-9DC3-9BB8EA3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72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0E3B-ABD2-C634-4F11-2FC99C39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7DD4C355-B726-C796-8B9E-F88B97E0E62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2EDD225-6FBC-EC01-A4FC-ECB957BA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GB"/>
          </a:p>
        </p:txBody>
      </p:sp>
      <p:pic>
        <p:nvPicPr>
          <p:cNvPr id="4098" name="Picture 2" descr="Java Polymorphism - Master the Concept with Real-life Examples! - TechVidvan">
            <a:extLst>
              <a:ext uri="{FF2B5EF4-FFF2-40B4-BE49-F238E27FC236}">
                <a16:creationId xmlns:a16="http://schemas.microsoft.com/office/drawing/2014/main" id="{9FF2817B-EE29-3E8F-DC75-7A4B6FFDC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0" y="609600"/>
            <a:ext cx="14782799" cy="935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57E302-B9AE-054B-358D-FC9D6BF136BB}"/>
              </a:ext>
            </a:extLst>
          </p:cNvPr>
          <p:cNvSpPr txBox="1"/>
          <p:nvPr/>
        </p:nvSpPr>
        <p:spPr>
          <a:xfrm>
            <a:off x="7559039" y="1916244"/>
            <a:ext cx="3505200" cy="128016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34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190B-6255-A81B-E103-3F4B9F2B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81696A2-CAA9-6487-35B2-1941ADB27FEC}"/>
              </a:ext>
            </a:extLst>
          </p:cNvPr>
          <p:cNvGrpSpPr/>
          <p:nvPr/>
        </p:nvGrpSpPr>
        <p:grpSpPr>
          <a:xfrm>
            <a:off x="1681316" y="2568511"/>
            <a:ext cx="15538088" cy="7076933"/>
            <a:chOff x="-483648" y="-2758013"/>
            <a:chExt cx="19542604" cy="3464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7788ED-33E1-4F97-E9B8-9CAC65C20752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solidFill>
                  <a:srgbClr val="FFFFFF"/>
                </a:solidFill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BF983E-7FF2-20AB-BC52-A7111A31445F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49276D-B473-FB09-CFEE-3B39C08C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GB"/>
          </a:p>
        </p:txBody>
      </p:sp>
      <p:pic>
        <p:nvPicPr>
          <p:cNvPr id="5122" name="Picture 2" descr="Polymorphism in C# .NET Core - OOP Concept Detailed Explanation | Pro Code  Guide">
            <a:extLst>
              <a:ext uri="{FF2B5EF4-FFF2-40B4-BE49-F238E27FC236}">
                <a16:creationId xmlns:a16="http://schemas.microsoft.com/office/drawing/2014/main" id="{F6452E89-F99C-D3A0-FE3C-275525DA1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316" y="662885"/>
            <a:ext cx="14925368" cy="896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639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E155-CCD6-E5A5-57FA-DEA88DD9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F1FC6D-9AD4-EA47-8AC5-A8632A8F374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25F062-039D-CC5F-8498-D4C50234D0C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B44C49C-B10C-5B58-DB0E-F624CB39284E}"/>
              </a:ext>
            </a:extLst>
          </p:cNvPr>
          <p:cNvGrpSpPr/>
          <p:nvPr/>
        </p:nvGrpSpPr>
        <p:grpSpPr>
          <a:xfrm>
            <a:off x="1681316" y="2568511"/>
            <a:ext cx="15538088" cy="6079542"/>
            <a:chOff x="-483648" y="-2758013"/>
            <a:chExt cx="19542604" cy="29760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F37376F-63FE-8FC5-D435-05002DB057B7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225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BB97C5F-1D17-5193-2C99-EEA2EEA52F91}"/>
                </a:ext>
              </a:extLst>
            </p:cNvPr>
            <p:cNvSpPr txBox="1"/>
            <p:nvPr/>
          </p:nvSpPr>
          <p:spPr>
            <a:xfrm>
              <a:off x="0" y="-9525"/>
              <a:ext cx="15443231" cy="227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94B73E5-4CD5-B5BD-E85C-760BDB2F9D6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D0FB182-F0E4-2118-61A9-1779A5C1874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CCEB9C3-1A19-8532-6227-FA81B56BD434}"/>
              </a:ext>
            </a:extLst>
          </p:cNvPr>
          <p:cNvSpPr txBox="1"/>
          <p:nvPr/>
        </p:nvSpPr>
        <p:spPr>
          <a:xfrm>
            <a:off x="1967403" y="517415"/>
            <a:ext cx="149249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Types of Polymorphism In C#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9AA690-B27E-223C-4879-351E7D93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27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C10E0CA-6F0D-060E-149A-8D5373871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065" y="2323314"/>
            <a:ext cx="6516968" cy="602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FD3296-77D0-8FF1-8770-E73CB2E05CA7}"/>
              </a:ext>
            </a:extLst>
          </p:cNvPr>
          <p:cNvSpPr txBox="1"/>
          <p:nvPr/>
        </p:nvSpPr>
        <p:spPr>
          <a:xfrm>
            <a:off x="1477831" y="8820034"/>
            <a:ext cx="716084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b="1" i="0">
                <a:effectLst/>
                <a:latin typeface="+mj-lt"/>
              </a:rPr>
              <a:t>Compile-Time Polymorphism (Method Overloading)</a:t>
            </a:r>
            <a:r>
              <a:rPr lang="en-GB" sz="2500" b="0" i="0">
                <a:effectLst/>
                <a:latin typeface="+mj-lt"/>
              </a:rPr>
              <a:t> </a:t>
            </a:r>
            <a:endParaRPr lang="en-IN" sz="2500">
              <a:latin typeface="+mj-lt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6BA5266E-D65C-2D95-1F73-D447AF7D5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870" y="2323314"/>
            <a:ext cx="6187119" cy="602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2CB16E-4126-09C4-C851-DC74D693E418}"/>
              </a:ext>
            </a:extLst>
          </p:cNvPr>
          <p:cNvSpPr txBox="1"/>
          <p:nvPr/>
        </p:nvSpPr>
        <p:spPr>
          <a:xfrm>
            <a:off x="9429870" y="8757297"/>
            <a:ext cx="65570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b="1" i="0">
                <a:effectLst/>
                <a:latin typeface="+mj-lt"/>
              </a:rPr>
              <a:t>Run-Time Polymorphism (Method Overriding)</a:t>
            </a:r>
            <a:endParaRPr lang="en-IN" sz="25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0637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2E19-FDDF-84FB-031A-575051FF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B24A21-F2C0-17BC-91C7-AAABB24AD280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0D3D344-1FCB-B40F-3092-33FCB413801E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4FD2E1-C246-920C-AD91-2F830E180653}"/>
              </a:ext>
            </a:extLst>
          </p:cNvPr>
          <p:cNvGrpSpPr/>
          <p:nvPr/>
        </p:nvGrpSpPr>
        <p:grpSpPr>
          <a:xfrm>
            <a:off x="1681316" y="2568511"/>
            <a:ext cx="15538088" cy="6079542"/>
            <a:chOff x="-483648" y="-2758013"/>
            <a:chExt cx="19542604" cy="29760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902B654-D725-BC2D-82CD-BE5D3E4D9BF7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225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22901A9-A14A-7BFD-3B19-7762DC542828}"/>
                </a:ext>
              </a:extLst>
            </p:cNvPr>
            <p:cNvSpPr txBox="1"/>
            <p:nvPr/>
          </p:nvSpPr>
          <p:spPr>
            <a:xfrm>
              <a:off x="0" y="-9525"/>
              <a:ext cx="15443231" cy="227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4BEB7F9-F2E3-ED62-DAF3-9372074D362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C133975-BA76-7EE4-FF84-3FB28AC9FF1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1D4340D-300F-4C2D-EEF3-4F528359CE80}"/>
              </a:ext>
            </a:extLst>
          </p:cNvPr>
          <p:cNvSpPr txBox="1"/>
          <p:nvPr/>
        </p:nvSpPr>
        <p:spPr>
          <a:xfrm>
            <a:off x="1967403" y="375686"/>
            <a:ext cx="149249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 Polymorphism In Interfaces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F1D952-D796-67EC-0171-DB8D719B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28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6EC6C-C4C6-9CF4-4921-0501CCF2017B}"/>
              </a:ext>
            </a:extLst>
          </p:cNvPr>
          <p:cNvSpPr txBox="1"/>
          <p:nvPr/>
        </p:nvSpPr>
        <p:spPr>
          <a:xfrm>
            <a:off x="2065859" y="2131009"/>
            <a:ext cx="15291897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>
                <a:effectLst/>
                <a:latin typeface="+mj-lt"/>
              </a:rPr>
              <a:t>Polymorphism can also be implemented using interfaces. Multiple classes implementing the same interface can provide different implementations of the interface’s methods. </a:t>
            </a: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US" sz="3000">
              <a:latin typeface="+mj-lt"/>
            </a:endParaRPr>
          </a:p>
          <a:p>
            <a:endParaRPr lang="en-IN" sz="3000">
              <a:latin typeface="+mj-lt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9FF8D85-46F3-7BA9-8EBC-267D456A1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279" y="3565683"/>
            <a:ext cx="5181600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8B15B5AB-C6DD-6A58-53A2-EEDEF9A43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870" y="5184452"/>
            <a:ext cx="56959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E3F6F8-0F74-71C9-D4E9-8639B5CC475A}"/>
              </a:ext>
            </a:extLst>
          </p:cNvPr>
          <p:cNvSpPr txBox="1"/>
          <p:nvPr/>
        </p:nvSpPr>
        <p:spPr>
          <a:xfrm>
            <a:off x="9429870" y="4341418"/>
            <a:ext cx="3465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/>
              <a:t>Usage:</a:t>
            </a:r>
          </a:p>
        </p:txBody>
      </p:sp>
    </p:spTree>
    <p:extLst>
      <p:ext uri="{BB962C8B-B14F-4D97-AF65-F5344CB8AC3E}">
        <p14:creationId xmlns:p14="http://schemas.microsoft.com/office/powerpoint/2010/main" val="3892717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EDFF-41F0-0F19-42F7-E4B692D6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21D4E0-7587-340C-8B53-90BBF8548EAD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358281E-7571-273D-BDDE-08195CE70B8E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1418B9-7B81-2575-768D-6DCE430E83E6}"/>
              </a:ext>
            </a:extLst>
          </p:cNvPr>
          <p:cNvGrpSpPr/>
          <p:nvPr/>
        </p:nvGrpSpPr>
        <p:grpSpPr>
          <a:xfrm>
            <a:off x="1681316" y="2568511"/>
            <a:ext cx="15538088" cy="6079542"/>
            <a:chOff x="-483648" y="-2758013"/>
            <a:chExt cx="19542604" cy="29760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842276-9A04-83A5-C216-BE72A6FFCAEF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225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7D4CA90-B550-4460-B3D7-0A49B30AF637}"/>
                </a:ext>
              </a:extLst>
            </p:cNvPr>
            <p:cNvSpPr txBox="1"/>
            <p:nvPr/>
          </p:nvSpPr>
          <p:spPr>
            <a:xfrm>
              <a:off x="0" y="-9525"/>
              <a:ext cx="15443231" cy="227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23C1BBA-6937-1C1E-9B7A-948BE291812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42BAF16-B3D0-7AF4-16CA-F0AA8A6B5C8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3E45285-C685-30C3-D76B-D535B7F4874D}"/>
              </a:ext>
            </a:extLst>
          </p:cNvPr>
          <p:cNvSpPr txBox="1"/>
          <p:nvPr/>
        </p:nvSpPr>
        <p:spPr>
          <a:xfrm>
            <a:off x="1967403" y="375686"/>
            <a:ext cx="149249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ea typeface="+mn-lt"/>
                <a:cs typeface="+mn-lt"/>
                <a:sym typeface="Heebo Black"/>
              </a:rPr>
              <a:t> Encapsulation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6259B8B-34C1-5BC2-1B4C-EAE0512F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446AC-40CE-E970-DF89-86FD7AF7C215}"/>
              </a:ext>
            </a:extLst>
          </p:cNvPr>
          <p:cNvSpPr txBox="1"/>
          <p:nvPr/>
        </p:nvSpPr>
        <p:spPr>
          <a:xfrm>
            <a:off x="2065859" y="2131009"/>
            <a:ext cx="1529189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/>
              <a:t>What is Encapsulation?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/>
              <a:t>Encapsulation means </a:t>
            </a:r>
            <a:r>
              <a:rPr lang="en-US" sz="3200" b="1"/>
              <a:t>bundling data and methods</a:t>
            </a:r>
            <a:r>
              <a:rPr lang="en-US" sz="3200"/>
              <a:t> that operate on that data into a 	single unit (class)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/>
              <a:t>It also involves </a:t>
            </a:r>
            <a:r>
              <a:rPr lang="en-US" sz="3200" b="1"/>
              <a:t>restricting direct access</a:t>
            </a:r>
            <a:r>
              <a:rPr lang="en-US" sz="3200"/>
              <a:t> to some of an object’s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/>
              <a:t>Why Use It?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/>
              <a:t>Protects data</a:t>
            </a:r>
            <a:r>
              <a:rPr lang="en-US" sz="3200"/>
              <a:t> from unintended changes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/>
              <a:t>Improves security</a:t>
            </a:r>
            <a:r>
              <a:rPr lang="en-US" sz="3200"/>
              <a:t> and control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b="1"/>
              <a:t>Hides internal implementation</a:t>
            </a:r>
            <a:r>
              <a:rPr lang="en-US" sz="3200"/>
              <a:t> from outside code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/>
              <a:t>Makes code </a:t>
            </a:r>
            <a:r>
              <a:rPr lang="en-US" sz="3200" b="1"/>
              <a:t>easier to maintain and debug</a:t>
            </a:r>
            <a:endParaRPr lang="en-US" sz="3200"/>
          </a:p>
          <a:p>
            <a:pPr marL="514350" indent="-514350">
              <a:buFont typeface="+mj-lt"/>
              <a:buAutoNum type="arabicPeriod"/>
            </a:pPr>
            <a:r>
              <a:rPr lang="en-US" sz="3200" b="1"/>
              <a:t>How its done in C#: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3200"/>
              <a:t>Use </a:t>
            </a:r>
            <a:r>
              <a:rPr lang="en-IN" sz="3200" b="1"/>
              <a:t>access modifiers</a:t>
            </a:r>
            <a:r>
              <a:rPr lang="en-IN" sz="3200"/>
              <a:t> (private, public, protected)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/>
              <a:t>Access data through </a:t>
            </a:r>
            <a:r>
              <a:rPr lang="en-US" sz="3200" b="1"/>
              <a:t>getters and setters (properties)</a:t>
            </a:r>
            <a:endParaRPr lang="en-US" sz="3200"/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184659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7650-C171-A62E-455B-7BAADCA7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ED54362-57BB-64E6-3CF1-78D2DD182913}"/>
              </a:ext>
            </a:extLst>
          </p:cNvPr>
          <p:cNvGrpSpPr/>
          <p:nvPr/>
        </p:nvGrpSpPr>
        <p:grpSpPr>
          <a:xfrm>
            <a:off x="1681316" y="2568511"/>
            <a:ext cx="15538088" cy="7076933"/>
            <a:chOff x="-483648" y="-2758013"/>
            <a:chExt cx="19542604" cy="3464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E1C81C6-CE47-779A-5112-353476791AB3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solidFill>
                  <a:srgbClr val="FFFFFF"/>
                </a:solidFill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E7FBF09-18E9-53E4-7368-6FF52D56CEA1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BB49F31-5A04-4B42-A6F0-176C4548F821}"/>
              </a:ext>
            </a:extLst>
          </p:cNvPr>
          <p:cNvSpPr txBox="1"/>
          <p:nvPr/>
        </p:nvSpPr>
        <p:spPr>
          <a:xfrm>
            <a:off x="1967403" y="375686"/>
            <a:ext cx="149249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SOLID Properties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938F075-7767-83FB-933C-B6559BE8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CEAFA34-9E36-4F40-699B-DE0AEBC6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915403"/>
            <a:ext cx="17325474" cy="845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20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1958355"/>
            <a:chOff x="-2918087" y="-1990758"/>
            <a:chExt cx="21900210" cy="25979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Wingdings"/>
                <a:buChar char="Ø"/>
              </a:pPr>
              <a:endParaRPr lang="en-GB" sz="32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195551" y="80348"/>
            <a:ext cx="1648307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</a:rPr>
              <a:t>Use Cases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31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2CEB821-4AF8-AE5A-EDAE-FA46A787F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641608"/>
              </p:ext>
            </p:extLst>
          </p:nvPr>
        </p:nvGraphicFramePr>
        <p:xfrm>
          <a:off x="1211296" y="1296740"/>
          <a:ext cx="16085938" cy="853335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347293">
                  <a:extLst>
                    <a:ext uri="{9D8B030D-6E8A-4147-A177-3AD203B41FA5}">
                      <a16:colId xmlns:a16="http://schemas.microsoft.com/office/drawing/2014/main" val="494132572"/>
                    </a:ext>
                  </a:extLst>
                </a:gridCol>
                <a:gridCol w="11738645">
                  <a:extLst>
                    <a:ext uri="{9D8B030D-6E8A-4147-A177-3AD203B41FA5}">
                      <a16:colId xmlns:a16="http://schemas.microsoft.com/office/drawing/2014/main" val="2895800148"/>
                    </a:ext>
                  </a:extLst>
                </a:gridCol>
              </a:tblGrid>
              <a:tr h="474646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IN" sz="2800">
                        <a:solidFill>
                          <a:srgbClr val="FFFFFF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rgbClr val="FFFFFF"/>
                          </a:solidFill>
                        </a:rPr>
                        <a:t>Use Case Example</a:t>
                      </a:r>
                      <a:endParaRPr lang="en-IN" sz="2800">
                        <a:solidFill>
                          <a:srgbClr val="FFFFFF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799185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Classes &amp; Objects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Model real-world entities like Product, User, Order in e-commerce or ERP apps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723262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Inheritance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tx1"/>
                          </a:solidFill>
                        </a:rPr>
                        <a:t>Create reusable hierarchies (e.g., Employee → Manager, Vehicle → Car)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513928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Polymorphism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Implement multiple payment types under one interface (CreditCard, PayPal)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221863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Interfaces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Define contracts for services like ILogger, INotification, IDataAccess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544543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S - Single Responsibility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chemeClr val="tx1"/>
                          </a:solidFill>
                        </a:rPr>
                        <a:t>Separate concerns: UserService, EmailService, InvoiceService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9137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O - Open/Closed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Add new behaviors (e.g., shipping types) without modifying existing classes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266160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L - Liskov Substitution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derived classes (PayPal, CardPayment) wherever base class PaymentMethod is used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73591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I - Interface Segregation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Split large interfaces (IWorker) into smaller ones (IWorkable, IEatable)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166368"/>
                  </a:ext>
                </a:extLst>
              </a:tr>
              <a:tr h="890485">
                <a:tc>
                  <a:txBody>
                    <a:bodyPr/>
                    <a:lstStyle/>
                    <a:p>
                      <a:r>
                        <a:rPr lang="en-IN" sz="2800" b="1">
                          <a:solidFill>
                            <a:schemeClr val="tx1"/>
                          </a:solidFill>
                        </a:rPr>
                        <a:t>D - Dependency Inversion</a:t>
                      </a:r>
                      <a:endParaRPr lang="en-IN" sz="2800">
                        <a:solidFill>
                          <a:schemeClr val="tx1"/>
                        </a:solidFill>
                      </a:endParaRP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Inject abstractions (e.g., ILogger) into classes using .NET Core DI container</a:t>
                      </a:r>
                    </a:p>
                  </a:txBody>
                  <a:tcPr marL="64657" marR="64657" marT="32328" marB="32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940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222566" y="1262932"/>
            <a:ext cx="13103033" cy="9024068"/>
            <a:chOff x="0" y="-5751"/>
            <a:chExt cx="13673324" cy="12567417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18729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1.) Classes &amp; Objects –Student Management System</a:t>
              </a:r>
            </a:p>
            <a:p>
              <a:pPr marL="323850" lvl="1" algn="just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 algn="just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Objective :</a:t>
              </a:r>
            </a:p>
            <a:p>
              <a:pPr marL="323850" lvl="1" algn="just">
                <a:lnSpc>
                  <a:spcPts val="3600"/>
                </a:lnSpc>
              </a:pPr>
              <a:r>
                <a:rPr lang="en-IN" sz="3200"/>
                <a:t>Create and use classes with properties, constructors, and methods.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r>
                <a:rPr lang="en-IN" sz="3200" b="1"/>
                <a:t>🔧 Tasks: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1428750" lvl="2" indent="-514350" algn="just">
                <a:buFont typeface="+mj-lt"/>
                <a:buAutoNum type="arabicPeriod"/>
              </a:pPr>
              <a:r>
                <a:rPr lang="en-IN" sz="3200"/>
                <a:t>Create a class Student with the following: </a:t>
              </a:r>
            </a:p>
            <a:p>
              <a:pPr marL="1828800" lvl="3" indent="-457200" algn="just">
                <a:buFont typeface="Arial" panose="020B0604020202020204" pitchFamily="34" charset="0"/>
                <a:buChar char="•"/>
              </a:pPr>
              <a:r>
                <a:rPr lang="en-IN" sz="3200"/>
                <a:t>Properties: Name, </a:t>
              </a:r>
              <a:r>
                <a:rPr lang="en-IN" sz="3200" err="1"/>
                <a:t>RollNumber</a:t>
              </a:r>
              <a:r>
                <a:rPr lang="en-IN" sz="3200"/>
                <a:t>, Course, Marks (out of 100)</a:t>
              </a:r>
            </a:p>
            <a:p>
              <a:pPr marL="1828800" lvl="3" indent="-457200" algn="just">
                <a:buFont typeface="Arial" panose="020B0604020202020204" pitchFamily="34" charset="0"/>
                <a:buChar char="•"/>
              </a:pPr>
              <a:r>
                <a:rPr lang="en-IN" sz="3200"/>
                <a:t>Method: DisplayDetails() to print student details</a:t>
              </a:r>
            </a:p>
            <a:p>
              <a:pPr marL="1428750" lvl="2" indent="-514350" algn="just">
                <a:buFont typeface="+mj-lt"/>
                <a:buAutoNum type="arabicPeriod"/>
              </a:pPr>
              <a:r>
                <a:rPr lang="en-IN" sz="3200"/>
                <a:t>In Main(): </a:t>
              </a:r>
            </a:p>
            <a:p>
              <a:pPr marL="1828800" lvl="3" indent="-457200" algn="just">
                <a:buFont typeface="Arial" panose="020B0604020202020204" pitchFamily="34" charset="0"/>
                <a:buChar char="•"/>
              </a:pPr>
              <a:r>
                <a:rPr lang="en-IN" sz="3200"/>
                <a:t>Create </a:t>
              </a:r>
              <a:r>
                <a:rPr lang="en-IN" sz="3200" b="1"/>
                <a:t>at least 3 objects</a:t>
              </a:r>
              <a:r>
                <a:rPr lang="en-IN" sz="3200"/>
                <a:t> of Student</a:t>
              </a:r>
            </a:p>
            <a:p>
              <a:pPr marL="1828800" lvl="3" indent="-457200" algn="just">
                <a:buFont typeface="Arial" panose="020B0604020202020204" pitchFamily="34" charset="0"/>
                <a:buChar char="•"/>
              </a:pPr>
              <a:r>
                <a:rPr lang="en-IN" sz="3200"/>
                <a:t>Use a </a:t>
              </a:r>
              <a:r>
                <a:rPr lang="en-IN" sz="3200" b="1"/>
                <a:t>constructor</a:t>
              </a:r>
              <a:r>
                <a:rPr lang="en-IN" sz="3200"/>
                <a:t> to assign values</a:t>
              </a:r>
            </a:p>
            <a:p>
              <a:pPr marL="1828800" lvl="3" indent="-457200" algn="just">
                <a:buFont typeface="Arial" panose="020B0604020202020204" pitchFamily="34" charset="0"/>
                <a:buChar char="•"/>
              </a:pPr>
              <a:r>
                <a:rPr lang="en-US" sz="320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Call </a:t>
              </a:r>
              <a:r>
                <a:rPr lang="en-IN" sz="3200"/>
                <a:t>the DisplayDetails() method for each student</a:t>
              </a:r>
            </a:p>
            <a:p>
              <a:pPr marL="323850" lvl="1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2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A3B0-F5EF-7DC3-9E15-2628A0EB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40CCCE-EC5B-E562-DF90-F3BA5621B338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1D7984-3BD0-633F-3588-6B3DDDAA8418}"/>
              </a:ext>
            </a:extLst>
          </p:cNvPr>
          <p:cNvGrpSpPr/>
          <p:nvPr/>
        </p:nvGrpSpPr>
        <p:grpSpPr>
          <a:xfrm>
            <a:off x="1222566" y="1262932"/>
            <a:ext cx="13103033" cy="8808624"/>
            <a:chOff x="0" y="-5751"/>
            <a:chExt cx="13673324" cy="122673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D93650-C313-F0D7-EBEB-2AC1372804E8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AF1BB65-D24F-A564-EF24-0B2553D372A4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218FEF7-455A-5957-5EE8-3F4D6892A950}"/>
                </a:ext>
              </a:extLst>
            </p:cNvPr>
            <p:cNvSpPr txBox="1"/>
            <p:nvPr/>
          </p:nvSpPr>
          <p:spPr>
            <a:xfrm>
              <a:off x="0" y="688706"/>
              <a:ext cx="13250213" cy="11572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Assistant Regular"/>
                  <a:ea typeface="Assistant Regular"/>
                  <a:cs typeface="Assistant Regular"/>
                </a:rPr>
                <a:t>Output Format:</a:t>
              </a: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85B3EC5-1AD5-4D31-D7CA-7EBCFB65D25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6A47F762-6354-3287-ADE6-7C5914B703E7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42FB7D4-70E8-301C-6012-764E36DF3890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B6BCACF-3B09-C6E6-1E3D-014A85612E1A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1A1FCD6-4F98-C9FB-0ABE-539D1A3896AE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1876F5D-8F10-ED91-5064-01853F8E3428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DE5C7F3-1AB4-24BB-3AE4-E42D44E68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845" y="2417094"/>
            <a:ext cx="8422105" cy="710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92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5989-7868-DB4B-AA83-69374339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52A062-A05E-2294-FE89-24D673732D02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E44AA72-DC6C-341E-3748-D20637658F07}"/>
              </a:ext>
            </a:extLst>
          </p:cNvPr>
          <p:cNvGrpSpPr/>
          <p:nvPr/>
        </p:nvGrpSpPr>
        <p:grpSpPr>
          <a:xfrm>
            <a:off x="1710493" y="1124014"/>
            <a:ext cx="13103033" cy="8223848"/>
            <a:chOff x="0" y="-5751"/>
            <a:chExt cx="13673324" cy="1145298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BC6445B-C5F9-8DE0-EB42-B8BB7B983211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8EDFFAD-B6BE-3861-5F47-EDC456675319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AC7A6E7-7FA5-C42D-EF31-2DA0F69F4188}"/>
                </a:ext>
              </a:extLst>
            </p:cNvPr>
            <p:cNvSpPr txBox="1"/>
            <p:nvPr/>
          </p:nvSpPr>
          <p:spPr>
            <a:xfrm>
              <a:off x="0" y="688706"/>
              <a:ext cx="13250213" cy="107585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2.) </a:t>
              </a:r>
              <a:r>
                <a:rPr lang="en-IN" sz="3200" b="1"/>
                <a:t>Inheritance – Employee Hierarchy</a:t>
              </a: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 algn="just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Objective :</a:t>
              </a:r>
            </a:p>
            <a:p>
              <a:r>
                <a:rPr lang="en-IN" sz="3200"/>
                <a:t>Apply </a:t>
              </a:r>
              <a:r>
                <a:rPr lang="en-IN" sz="3200" b="1"/>
                <a:t>inheritance</a:t>
              </a:r>
              <a:r>
                <a:rPr lang="en-IN" sz="3200"/>
                <a:t> and </a:t>
              </a:r>
              <a:r>
                <a:rPr lang="en-IN" sz="3200" b="1"/>
                <a:t>constructor chaining</a:t>
              </a:r>
              <a:r>
                <a:rPr lang="en-IN" sz="3200"/>
                <a:t> in C#.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r>
                <a:rPr lang="en-IN" sz="3200" b="1"/>
                <a:t>🔧 Tasks: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1428750" lvl="2" indent="-514350">
                <a:buFont typeface="+mj-lt"/>
                <a:buAutoNum type="arabicPeriod"/>
              </a:pPr>
              <a:r>
                <a:rPr lang="en-IN" sz="3200"/>
                <a:t>Create a </a:t>
              </a:r>
              <a:r>
                <a:rPr lang="en-IN" sz="3200" b="1"/>
                <a:t>base class</a:t>
              </a:r>
              <a:r>
                <a:rPr lang="en-IN" sz="3200"/>
                <a:t> Employee: 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/>
                <a:t>Properties: </a:t>
              </a:r>
              <a:r>
                <a:rPr lang="en-IN" sz="3200" err="1"/>
                <a:t>EmpID</a:t>
              </a:r>
              <a:r>
                <a:rPr lang="en-IN" sz="3200"/>
                <a:t>, Name, </a:t>
              </a:r>
              <a:r>
                <a:rPr lang="en-IN" sz="3200" err="1"/>
                <a:t>BasicSalary</a:t>
              </a:r>
              <a:endParaRPr lang="en-IN" sz="3200"/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/>
                <a:t>Method: Display()</a:t>
              </a:r>
            </a:p>
            <a:p>
              <a:pPr marL="1428750" lvl="2" indent="-514350">
                <a:buFont typeface="+mj-lt"/>
                <a:buAutoNum type="arabicPeriod"/>
              </a:pPr>
              <a:r>
                <a:rPr lang="en-IN" sz="3200"/>
                <a:t>Create two subclasses: 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/>
                <a:t>Manager → additional property: Bonus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/>
                <a:t>Developer → additional property: </a:t>
              </a:r>
              <a:r>
                <a:rPr lang="en-IN" sz="3200" err="1"/>
                <a:t>ProjectName</a:t>
              </a:r>
              <a:endParaRPr lang="en-IN" sz="3200"/>
            </a:p>
            <a:p>
              <a:pPr marL="1428750" lvl="2" indent="-514350">
                <a:buFont typeface="+mj-lt"/>
                <a:buAutoNum type="arabicPeriod"/>
              </a:pPr>
              <a:r>
                <a:rPr lang="en-IN" sz="3200"/>
                <a:t>Override Display() in both subclasses.</a:t>
              </a:r>
            </a:p>
            <a:p>
              <a:pPr marL="1428750" lvl="2" indent="-514350">
                <a:buFont typeface="+mj-lt"/>
                <a:buAutoNum type="arabicPeriod"/>
              </a:pPr>
              <a:r>
                <a:rPr lang="en-IN" sz="3200"/>
                <a:t>In Main(): 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/>
                <a:t>Create objects of Manager and Developer and display full info.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478DF34-0297-377B-2597-28C2AC55F85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D892500-707A-EAE8-DF67-D0165D343F3D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2AADF76-BE61-30A8-4A44-227F9EC5C5AD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F4649B8-41EF-FC88-7152-8AFE47B62B3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57C4DD1-EE6C-F858-D63C-E3D4F1858C50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5BDFF83-D299-66EA-4954-9A31E5D178A6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8699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F8BE-9B19-A7F3-892F-DD92278B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2BAC22-1B78-3552-F5C0-B62EB843365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D9A16E0-0A99-1F56-C230-8711423D6376}"/>
              </a:ext>
            </a:extLst>
          </p:cNvPr>
          <p:cNvGrpSpPr/>
          <p:nvPr/>
        </p:nvGrpSpPr>
        <p:grpSpPr>
          <a:xfrm>
            <a:off x="1222566" y="1262932"/>
            <a:ext cx="13103033" cy="8808624"/>
            <a:chOff x="0" y="-5751"/>
            <a:chExt cx="13673324" cy="122673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FB7DB6-0807-DC5D-FC5A-2DCB8CA7324C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082D579-B4CF-6299-9F69-3DA22CD10A3A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713FDAA-62B7-CA76-E50C-6B969AD8D81C}"/>
                </a:ext>
              </a:extLst>
            </p:cNvPr>
            <p:cNvSpPr txBox="1"/>
            <p:nvPr/>
          </p:nvSpPr>
          <p:spPr>
            <a:xfrm>
              <a:off x="0" y="688706"/>
              <a:ext cx="13250213" cy="11572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Assistant Regular"/>
                  <a:ea typeface="Assistant Regular"/>
                  <a:cs typeface="Assistant Regular"/>
                </a:rPr>
                <a:t>Output Format:</a:t>
              </a: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08A20D-A957-6EC0-C1F5-DBCB648766F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18BEB3AA-6537-C278-707E-14322281D08B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5BF7AC3-A600-D8BC-9982-1BC6199CF181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F2D01E7-7E97-FB10-729F-F9EAA7BD6F4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4ACAE8C-BE80-19D0-F778-1858A4850F05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6853C0A-38CC-B592-CF0A-8E935F9824C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A6841FA-E2F3-DE6C-4911-2A184ADFD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484" y="2579341"/>
            <a:ext cx="8903368" cy="725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1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6F0B-EECF-6E64-5FED-39E206FD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D5FE41-E691-6EFA-2A32-8CC8A1E92A70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FB6B8BA-A56E-42F4-44F3-7D54CE5834BC}"/>
              </a:ext>
            </a:extLst>
          </p:cNvPr>
          <p:cNvGrpSpPr/>
          <p:nvPr/>
        </p:nvGrpSpPr>
        <p:grpSpPr>
          <a:xfrm>
            <a:off x="140804" y="1115513"/>
            <a:ext cx="13692825" cy="8470090"/>
            <a:chOff x="0" y="-5751"/>
            <a:chExt cx="14288786" cy="117959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D40DC19-2791-4D61-A790-78A8C252C915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091D942-6A78-EFBB-07B8-1158122441D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5134ADB-5981-5C28-A2D1-20A8D5970A02}"/>
                </a:ext>
              </a:extLst>
            </p:cNvPr>
            <p:cNvSpPr txBox="1"/>
            <p:nvPr/>
          </p:nvSpPr>
          <p:spPr>
            <a:xfrm>
              <a:off x="1038573" y="345833"/>
              <a:ext cx="13250213" cy="114443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3.) </a:t>
              </a:r>
              <a:r>
                <a:rPr lang="en-IN" sz="3200" b="1"/>
                <a:t>Polymorphism – Shape Calculator</a:t>
              </a: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 algn="just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Objective :</a:t>
              </a:r>
            </a:p>
            <a:p>
              <a:r>
                <a:rPr lang="en-IN" sz="3200"/>
                <a:t>Demonstrate </a:t>
              </a:r>
              <a:r>
                <a:rPr lang="en-IN" sz="3200" b="1"/>
                <a:t>method overriding</a:t>
              </a:r>
              <a:r>
                <a:rPr lang="en-IN" sz="3200"/>
                <a:t> and </a:t>
              </a:r>
              <a:r>
                <a:rPr lang="en-IN" sz="3200" b="1"/>
                <a:t>runtime polymorphism</a:t>
              </a:r>
              <a:r>
                <a:rPr lang="en-IN" sz="3200"/>
                <a:t>.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r>
                <a:rPr lang="en-IN" sz="3200" b="1"/>
                <a:t>🔧 Tasks: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 b="1"/>
            </a:p>
            <a:p>
              <a:pPr marL="1885950" lvl="3" indent="-514350">
                <a:buFont typeface="+mj-lt"/>
                <a:buAutoNum type="arabicPeriod"/>
              </a:pPr>
              <a:r>
                <a:rPr lang="en-IN" sz="3200"/>
                <a:t>Create an </a:t>
              </a:r>
              <a:r>
                <a:rPr lang="en-IN" sz="3200" b="1"/>
                <a:t>abstract class</a:t>
              </a:r>
              <a:r>
                <a:rPr lang="en-IN" sz="3200"/>
                <a:t> Shape with: 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/>
                <a:t>Method: </a:t>
              </a:r>
              <a:r>
                <a:rPr lang="en-IN" sz="3200" err="1"/>
                <a:t>CalculateArea</a:t>
              </a:r>
              <a:r>
                <a:rPr lang="en-IN" sz="3200"/>
                <a:t>() (abstract)</a:t>
              </a:r>
            </a:p>
            <a:p>
              <a:pPr marL="1885950" lvl="3" indent="-514350">
                <a:buFont typeface="+mj-lt"/>
                <a:buAutoNum type="arabicPeriod"/>
              </a:pPr>
              <a:r>
                <a:rPr lang="en-IN" sz="3200"/>
                <a:t>Create subclasses: 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/>
                <a:t>Circle → property: Radius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/>
                <a:t>Rectangle → properties: Length, Breadth</a:t>
              </a:r>
            </a:p>
            <a:p>
              <a:pPr marL="1885950" lvl="3" indent="-514350">
                <a:buFont typeface="+mj-lt"/>
                <a:buAutoNum type="arabicPeriod"/>
              </a:pPr>
              <a:r>
                <a:rPr lang="en-IN" sz="3200"/>
                <a:t>Override </a:t>
              </a:r>
              <a:r>
                <a:rPr lang="en-IN" sz="3200" err="1"/>
                <a:t>CalculateArea</a:t>
              </a:r>
              <a:r>
                <a:rPr lang="en-IN" sz="3200"/>
                <a:t>() in both.</a:t>
              </a:r>
            </a:p>
            <a:p>
              <a:pPr marL="1885950" lvl="3" indent="-514350">
                <a:buFont typeface="+mj-lt"/>
                <a:buAutoNum type="arabicPeriod"/>
              </a:pPr>
              <a:r>
                <a:rPr lang="en-IN" sz="3200"/>
                <a:t>In Main(): 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/>
                <a:t>Use a Shape reference to call the method for each derived class (polymorphism).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/>
                <a:t>Output area values with shape name</a:t>
              </a: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AD03157-AD19-0691-DFF4-0950C346E3F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0B4BA61-26E5-A5B9-8E64-D4F00F3064EA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4C5750D-0D1D-E9BA-35FB-58E945B458F2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DBFEA82-1245-B0A3-76AF-E35A1A34500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73FDA81-5AB5-753D-8A84-124099AEA7FA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D7A2D21-B3D0-D496-CD2B-25664EC5E8A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4387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508B-8A25-8A56-4493-1FF1BF60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FCDFA6-DDCE-29B4-48E5-97A8959DD6A3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D0978F9-7014-A318-D314-0DE76208D7C9}"/>
              </a:ext>
            </a:extLst>
          </p:cNvPr>
          <p:cNvGrpSpPr/>
          <p:nvPr/>
        </p:nvGrpSpPr>
        <p:grpSpPr>
          <a:xfrm>
            <a:off x="1222566" y="1262932"/>
            <a:ext cx="13103033" cy="8808624"/>
            <a:chOff x="0" y="-5751"/>
            <a:chExt cx="13673324" cy="122673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AB5087-7ED3-A45C-9B41-86139364ECF9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9B63B4-FAA7-E51A-8FF2-32C65E7393A6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0A09F53-7A9A-7986-332B-AEB3AEEE21C4}"/>
                </a:ext>
              </a:extLst>
            </p:cNvPr>
            <p:cNvSpPr txBox="1"/>
            <p:nvPr/>
          </p:nvSpPr>
          <p:spPr>
            <a:xfrm>
              <a:off x="0" y="688706"/>
              <a:ext cx="13250213" cy="11572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Assistant Regular"/>
                  <a:ea typeface="Assistant Regular"/>
                  <a:cs typeface="Assistant Regular"/>
                </a:rPr>
                <a:t>Output Format:</a:t>
              </a: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CF9880-C570-5F8E-E8A9-DFA4DFD3FEAA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0E8142C3-8886-94B7-4B5E-61D77C547D8C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8B2F8F3-AFFD-35E3-21C2-2B373FBFE336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138BEE3-9913-765A-3ABA-9DE51D62B1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80C71C4-CF47-3886-34FC-307C8198F33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1E2508E-3440-3A97-70D0-94496D8DA79D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BE80960-7998-DDBC-49ED-4DCAFBF47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255" y="2417094"/>
            <a:ext cx="8414334" cy="767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671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FBDE-9F2A-BE60-A876-9235F399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2AD037-3DE2-2BD1-0C6C-3D9806B97989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F3976EC-805D-F172-5E6F-42B3A5587549}"/>
              </a:ext>
            </a:extLst>
          </p:cNvPr>
          <p:cNvGrpSpPr/>
          <p:nvPr/>
        </p:nvGrpSpPr>
        <p:grpSpPr>
          <a:xfrm>
            <a:off x="1222566" y="1262932"/>
            <a:ext cx="13103033" cy="8900977"/>
            <a:chOff x="0" y="-5751"/>
            <a:chExt cx="13673324" cy="1239599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9EFCE5D-CA64-2771-DDD1-5907A7C436A8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D4B5819-3D18-3FA3-9778-9BBA34DE97A2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C833C0-3D44-1D74-A49B-2A4181406515}"/>
                </a:ext>
              </a:extLst>
            </p:cNvPr>
            <p:cNvSpPr txBox="1"/>
            <p:nvPr/>
          </p:nvSpPr>
          <p:spPr>
            <a:xfrm>
              <a:off x="106561" y="345833"/>
              <a:ext cx="13250213" cy="120444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4.) </a:t>
              </a:r>
              <a:r>
                <a:rPr lang="en-IN" sz="3200" b="1"/>
                <a:t>Interfaces – Payment Gateway System</a:t>
              </a: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 algn="just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Objective :</a:t>
              </a:r>
            </a:p>
            <a:p>
              <a:r>
                <a:rPr lang="en-IN" sz="3200"/>
                <a:t>Use </a:t>
              </a:r>
              <a:r>
                <a:rPr lang="en-IN" sz="3200" b="1"/>
                <a:t>interfaces</a:t>
              </a:r>
              <a:r>
                <a:rPr lang="en-IN" sz="3200"/>
                <a:t> to enforce common functionality across unrelated classes.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323850" lvl="1" algn="just">
                <a:lnSpc>
                  <a:spcPts val="3600"/>
                </a:lnSpc>
              </a:pPr>
              <a:r>
                <a:rPr lang="en-IN" sz="3200" b="1"/>
                <a:t>🔧 Tasks:</a:t>
              </a:r>
            </a:p>
            <a:p>
              <a:pPr marL="323850" lvl="1" algn="just">
                <a:lnSpc>
                  <a:spcPts val="3600"/>
                </a:lnSpc>
              </a:pPr>
              <a:endParaRPr lang="en-IN" sz="3200"/>
            </a:p>
            <a:p>
              <a:pPr marL="800100" lvl="1" indent="-342900">
                <a:buFont typeface="+mj-lt"/>
                <a:buAutoNum type="arabicPeriod"/>
              </a:pPr>
              <a:r>
                <a:rPr lang="en-IN" sz="3200"/>
                <a:t>Create an interface </a:t>
              </a:r>
              <a:r>
                <a:rPr lang="en-IN" sz="3200" err="1"/>
                <a:t>IPayment</a:t>
              </a:r>
              <a:r>
                <a:rPr lang="en-IN" sz="3200"/>
                <a:t> with: 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/>
                <a:t>Methods: Pay(), Refund()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IN" sz="3200"/>
                <a:t>Implement it in 2 classes: 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err="1"/>
                <a:t>CreditCardPayment</a:t>
              </a:r>
              <a:endParaRPr lang="en-IN" sz="3200"/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err="1"/>
                <a:t>UPIPayment</a:t>
              </a:r>
              <a:endParaRPr lang="en-IN" sz="3200"/>
            </a:p>
            <a:p>
              <a:pPr marL="800100" lvl="1" indent="-342900">
                <a:buFont typeface="+mj-lt"/>
                <a:buAutoNum type="arabicPeriod"/>
              </a:pPr>
              <a:r>
                <a:rPr lang="en-IN" sz="3200"/>
                <a:t>Each class should: 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/>
                <a:t>Store relevant details (e.g., card number, UPI ID)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/>
                <a:t>Implement the methods with sample output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IN" sz="3200"/>
                <a:t>In Main(): </a:t>
              </a:r>
            </a:p>
            <a:p>
              <a:pPr marL="1238250" lvl="2" indent="-4572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IN" sz="3200"/>
                <a:t>Create a list of </a:t>
              </a:r>
              <a:r>
                <a:rPr lang="en-IN" sz="3200" err="1"/>
                <a:t>IPayment</a:t>
              </a:r>
              <a:r>
                <a:rPr lang="en-IN" sz="3200"/>
                <a:t> objects and call Pay()/Refund() using a loop</a:t>
              </a: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F0559D-1FA0-998F-1B1C-63EFA6262C5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9DA907F-4ED0-02B1-84B3-1059511A742E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E340C98-E101-7A23-4571-BAF9C7BFEDAD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AC01E25-CF3D-777D-43F1-BD2B1B6FCBE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10412FA-E338-D2E7-588C-0FE90F262E48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BCFCECB-2875-E549-18D9-B3013BE402F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6980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FCC3-B4F0-4BC8-359C-69B34E9F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7D40A4-E058-C09D-DDFF-E7BE30AEEECE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AA8065A-7D02-682C-8D1B-0AA14C1EB744}"/>
              </a:ext>
            </a:extLst>
          </p:cNvPr>
          <p:cNvGrpSpPr/>
          <p:nvPr/>
        </p:nvGrpSpPr>
        <p:grpSpPr>
          <a:xfrm>
            <a:off x="1222566" y="1262932"/>
            <a:ext cx="13103033" cy="8808624"/>
            <a:chOff x="0" y="-5751"/>
            <a:chExt cx="13673324" cy="122673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884866-69F8-66B1-9CED-F3CBAB3973F3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7EA08A-352A-CE33-1003-58E34221A656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BE07FBB-5EAF-F145-B15C-8622103BF9B8}"/>
                </a:ext>
              </a:extLst>
            </p:cNvPr>
            <p:cNvSpPr txBox="1"/>
            <p:nvPr/>
          </p:nvSpPr>
          <p:spPr>
            <a:xfrm>
              <a:off x="0" y="688706"/>
              <a:ext cx="13250213" cy="11572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Assistant Regular"/>
                  <a:ea typeface="Assistant Regular"/>
                  <a:cs typeface="Assistant Regular"/>
                </a:rPr>
                <a:t>Output Format:</a:t>
              </a: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450E88-46BB-F67C-52EA-111D0707108C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A0B1FBB-098B-A78C-1A68-CBB34AB86D03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4B9B5A7-7114-9E5A-F2DC-5379283D6F22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8916F15-6E69-CABC-901D-161021A87FB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08F58DA-C1C1-3630-0A72-C176BA32EEE8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3C6DDF8-2A61-75E7-FA85-68BDDC29FA07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704DB6E-16D7-75C6-F659-524CC9355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865" y="2417095"/>
            <a:ext cx="7832156" cy="696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75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D52A1-D612-B8BD-795F-DFBEC52B9FEE}"/>
              </a:ext>
            </a:extLst>
          </p:cNvPr>
          <p:cNvSpPr txBox="1"/>
          <p:nvPr/>
        </p:nvSpPr>
        <p:spPr>
          <a:xfrm>
            <a:off x="5372101" y="2236152"/>
            <a:ext cx="12959854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OOP Integration Project – Library System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Combine all OOP concepts in a real-world example.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Tasks: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Create: 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Base class LibraryItem with Title, ID, IsAvailable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Subclasses: Book, Magazine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Use an interface IBorrowable with methods: Borrow(), ReturnItem()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Implement the interface in Book only.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914400" algn="l"/>
              </a:tabLst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Use polymorphism to loop through all items and perform borrow/return actions based on type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endParaRPr lang="en-US" altLang="en-US" sz="4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255F-3059-AB8F-5403-297B1982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A4E0C4-B57E-D09A-CA72-277E42638E06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131851D-DFF8-3331-6C9A-053284654BCE}"/>
              </a:ext>
            </a:extLst>
          </p:cNvPr>
          <p:cNvGrpSpPr/>
          <p:nvPr/>
        </p:nvGrpSpPr>
        <p:grpSpPr>
          <a:xfrm>
            <a:off x="1222566" y="1262932"/>
            <a:ext cx="13103033" cy="8808624"/>
            <a:chOff x="0" y="-5751"/>
            <a:chExt cx="13673324" cy="122673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2AA661D-8AE0-03F9-1D0C-5E3231EFD172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F7A318E-6222-B527-731D-396345C565B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DE45377-B8C8-F605-14A9-353DE0BA6E4B}"/>
                </a:ext>
              </a:extLst>
            </p:cNvPr>
            <p:cNvSpPr txBox="1"/>
            <p:nvPr/>
          </p:nvSpPr>
          <p:spPr>
            <a:xfrm>
              <a:off x="0" y="688706"/>
              <a:ext cx="13250213" cy="115729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r>
                <a:rPr lang="en-US" sz="3200" b="1">
                  <a:solidFill>
                    <a:srgbClr val="33123B"/>
                  </a:solidFill>
                  <a:latin typeface="Assistant Regular"/>
                  <a:ea typeface="Assistant Regular"/>
                  <a:cs typeface="Assistant Regular"/>
                </a:rPr>
                <a:t>Output Format:</a:t>
              </a: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b="1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4E12C0E-1352-02C0-465A-C287E2BB4A6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30494C8F-E385-2E18-F7F1-446D9EA6CCD1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5F4AE8A-A9B8-D0AD-2198-AB3437D95B32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C6E6C70-68A3-75BF-50AF-531396860E01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24CA800-FE8B-4861-E9B4-7323CB02813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2EFD9FE-9ED2-31E1-2B32-6B7D01EF733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821EB64-6B58-0A15-E765-EA9047756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659" y="2579341"/>
            <a:ext cx="7628020" cy="71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22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66674" y="4283300"/>
            <a:ext cx="462012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3000" b="1">
                <a:latin typeface="Assistant Regular Bold" panose="020B0604020202020204" charset="-79"/>
                <a:cs typeface="Assistant Regular Bold" panose="020B0604020202020204" charset="-79"/>
              </a:rPr>
              <a:t>OOP in C#-Classes &amp; Objects</a:t>
            </a:r>
            <a:endParaRPr lang="en-IN" sz="3000" b="1">
              <a:latin typeface="Assistant Regular Bold" panose="020B0604020202020204" charset="-79"/>
              <a:cs typeface="Assistant Regular Bold" panose="020B0604020202020204" charset="-79"/>
            </a:endParaRP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33123B"/>
              </a:solidFill>
              <a:latin typeface="Assistant Regular" panose="020B0604020202020204" charset="-79"/>
              <a:ea typeface="Assistant Regular Bold"/>
              <a:cs typeface="Assistant Regular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9151" y="4363264"/>
            <a:ext cx="480217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Inheritance,polymorphism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552407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 panose="020B0604020202020204" charset="-79"/>
                <a:ea typeface="Assistant Regular Bold"/>
                <a:cs typeface="Assistant Regular Bold" panose="020B0604020202020204" charset="-79"/>
                <a:sym typeface="Assistant Regular Bold"/>
              </a:rPr>
              <a:t>Encapsulation,</a:t>
            </a:r>
            <a:r>
              <a:rPr lang="en-US" sz="3000">
                <a:solidFill>
                  <a:srgbClr val="33123B"/>
                </a:solidFill>
                <a:latin typeface="Assistant Regular Bold" panose="020B0604020202020204" charset="-79"/>
                <a:ea typeface="Calibri"/>
                <a:cs typeface="Assistant Regular Bold" panose="020B0604020202020204" charset="-79"/>
                <a:sym typeface="Agrandir"/>
              </a:rPr>
              <a:t> SOLID properties</a:t>
            </a:r>
            <a:endParaRPr lang="en-US" sz="3000">
              <a:solidFill>
                <a:srgbClr val="33123B"/>
              </a:solidFill>
              <a:latin typeface="Assistant Regular Bold" panose="020B0604020202020204" charset="-79"/>
              <a:ea typeface="Agrandir"/>
              <a:cs typeface="Assistant Regular Bold" panose="020B0604020202020204" charset="-79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763" y="68757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8723" y="5822547"/>
            <a:ext cx="462012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3000" b="1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Abstraction and Interfaces</a:t>
            </a:r>
            <a:endParaRPr lang="en-US" sz="3000" b="1">
              <a:latin typeface="Assistant Regular Bold" panose="020B0604020202020204" charset="-79"/>
              <a:ea typeface="+mn-lt"/>
              <a:cs typeface="Assistant Regular Bold" panose="020B0604020202020204" charset="-79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564950" y="1264050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2292" y="2737230"/>
            <a:ext cx="12495415" cy="3801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IN" sz="3200">
                <a:hlinkClick r:id="rId4"/>
              </a:rPr>
              <a:t>https://learn.microsoft.com/en-us/dotnet/csharp/fundamentals/object-oriented/</a:t>
            </a:r>
            <a:endParaRPr lang="en-IN" sz="3200"/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IN" sz="3200">
                <a:hlinkClick r:id="rId5"/>
              </a:rPr>
              <a:t>https://www.youtube.com/watch?v=GhQdlIFylQ8</a:t>
            </a:r>
            <a:endParaRPr lang="en-IN" sz="3200"/>
          </a:p>
          <a:p>
            <a:pPr>
              <a:lnSpc>
                <a:spcPct val="200000"/>
              </a:lnSpc>
            </a:pPr>
            <a:endParaRPr lang="en-IN" sz="320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GB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AA6279-A4F7-6E37-1B6B-373107FE3476}"/>
              </a:ext>
            </a:extLst>
          </p:cNvPr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075780-F674-4507-BC08-8238B5C8FC91}">
  <ds:schemaRefs>
    <ds:schemaRef ds:uri="ad7d03b8-5160-4549-a356-269f909545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D98265C-6F42-4904-A2A8-DB3F796CB0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F8854B8-C5AA-4D15-9A3B-ACB2ADF8A1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44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revision>1</cp:revision>
  <dcterms:created xsi:type="dcterms:W3CDTF">2006-08-16T00:00:00Z</dcterms:created>
  <dcterms:modified xsi:type="dcterms:W3CDTF">2025-09-15T09:11:31Z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