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7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grandir" panose="020B0604020202020204" charset="0"/>
      <p:regular r:id="rId21"/>
    </p:embeddedFont>
    <p:embeddedFont>
      <p:font typeface="Assistant Regular" panose="020B0604020202020204" charset="-79"/>
      <p:regular r:id="rId22"/>
    </p:embeddedFont>
    <p:embeddedFont>
      <p:font typeface="Assistant Regular Bold" panose="020B0604020202020204" charset="-79"/>
      <p:regular r:id="rId23"/>
    </p:embeddedFont>
    <p:embeddedFont>
      <p:font typeface="Heebo Black" pitchFamily="2" charset="-79"/>
      <p:regular r:id="rId24"/>
      <p:bold r:id="rId25"/>
    </p:embeddedFont>
    <p:embeddedFont>
      <p:font typeface="HK Modular" panose="020B0604020202020204" charset="0"/>
      <p:regular r:id="rId26"/>
    </p:embeddedFont>
    <p:embeddedFont>
      <p:font typeface="Horizon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42" y="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452A0-443B-4AE5-844F-327A951B686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7330-2FF3-4E19-A871-082ECA4DA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5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4450" y="2240806"/>
            <a:ext cx="15324363" cy="4695700"/>
            <a:chOff x="-665728" y="-1910308"/>
            <a:chExt cx="17217406" cy="6260934"/>
          </a:xfrm>
        </p:grpSpPr>
        <p:sp>
          <p:nvSpPr>
            <p:cNvPr id="3" name="TextBox 3"/>
            <p:cNvSpPr txBox="1"/>
            <p:nvPr/>
          </p:nvSpPr>
          <p:spPr>
            <a:xfrm>
              <a:off x="-665728" y="-1910308"/>
              <a:ext cx="17217406" cy="4622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spc="279" dirty="0">
                  <a:solidFill>
                    <a:srgbClr val="FFFFFF"/>
                  </a:solidFill>
                  <a:ea typeface="+mn-lt"/>
                  <a:cs typeface="+mn-lt"/>
                  <a:sym typeface="Heebo Black"/>
                </a:rPr>
                <a:t>Inheritance, Polymorphism in C# 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393304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Mr.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Krishnaraj</a:t>
            </a:r>
            <a:endParaRPr lang="en-US" sz="3200" b="1">
              <a:solidFill>
                <a:srgbClr val="FFFFFF"/>
              </a:solidFill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5029" y="1104900"/>
            <a:ext cx="988088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Todays 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3951514" y="2847678"/>
            <a:ext cx="6486668" cy="881343"/>
            <a:chOff x="0" y="0"/>
            <a:chExt cx="7481570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1982" y="232552"/>
              <a:ext cx="5989588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Inheritance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347005" cy="881343"/>
            <a:chOff x="0" y="0"/>
            <a:chExt cx="7129340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420" y="260950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Types of Inheritance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1514" y="4337958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Polymorphism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4385978"/>
            <a:ext cx="5347005" cy="881343"/>
            <a:chOff x="0" y="0"/>
            <a:chExt cx="7129340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1420" y="232472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052671" y="5791690"/>
            <a:ext cx="5447375" cy="881343"/>
            <a:chOff x="0" y="0"/>
            <a:chExt cx="7263168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5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675248" y="223500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Assignments</a:t>
              </a:r>
            </a:p>
          </p:txBody>
        </p:sp>
      </p:grpSp>
      <p:grpSp>
        <p:nvGrpSpPr>
          <p:cNvPr id="2" name="Group 44">
            <a:extLst>
              <a:ext uri="{FF2B5EF4-FFF2-40B4-BE49-F238E27FC236}">
                <a16:creationId xmlns:a16="http://schemas.microsoft.com/office/drawing/2014/main" id="{70299B2D-F2B3-1FD4-CB85-21B1CF00A652}"/>
              </a:ext>
            </a:extLst>
          </p:cNvPr>
          <p:cNvGrpSpPr/>
          <p:nvPr/>
        </p:nvGrpSpPr>
        <p:grpSpPr>
          <a:xfrm>
            <a:off x="10955210" y="5699463"/>
            <a:ext cx="5548531" cy="881343"/>
            <a:chOff x="0" y="0"/>
            <a:chExt cx="7398043" cy="1175123"/>
          </a:xfrm>
        </p:grpSpPr>
        <p:grpSp>
          <p:nvGrpSpPr>
            <p:cNvPr id="3" name="Group 45">
              <a:extLst>
                <a:ext uri="{FF2B5EF4-FFF2-40B4-BE49-F238E27FC236}">
                  <a16:creationId xmlns:a16="http://schemas.microsoft.com/office/drawing/2014/main" id="{F99D5DA5-09E4-0FA6-BCC7-415C310003C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0" name="Freeform 46">
                <a:extLst>
                  <a:ext uri="{FF2B5EF4-FFF2-40B4-BE49-F238E27FC236}">
                    <a16:creationId xmlns:a16="http://schemas.microsoft.com/office/drawing/2014/main" id="{5696FB89-B041-0D67-190E-BC40CC589C32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47">
              <a:extLst>
                <a:ext uri="{FF2B5EF4-FFF2-40B4-BE49-F238E27FC236}">
                  <a16:creationId xmlns:a16="http://schemas.microsoft.com/office/drawing/2014/main" id="{23CA4432-2391-B97A-6CBE-007438D7BB19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6</a:t>
              </a:r>
            </a:p>
          </p:txBody>
        </p:sp>
        <p:sp>
          <p:nvSpPr>
            <p:cNvPr id="19" name="TextBox 48">
              <a:extLst>
                <a:ext uri="{FF2B5EF4-FFF2-40B4-BE49-F238E27FC236}">
                  <a16:creationId xmlns:a16="http://schemas.microsoft.com/office/drawing/2014/main" id="{0B30EAC3-D918-89B4-6263-E1AE9E33B41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885598" y="2353193"/>
            <a:ext cx="15259050" cy="6160917"/>
            <a:chOff x="-1450966" y="-1908928"/>
            <a:chExt cx="20345401" cy="8214559"/>
          </a:xfrm>
        </p:grpSpPr>
        <p:sp>
          <p:nvSpPr>
            <p:cNvPr id="5" name="TextBox 5"/>
            <p:cNvSpPr txBox="1"/>
            <p:nvPr/>
          </p:nvSpPr>
          <p:spPr>
            <a:xfrm>
              <a:off x="-1450966" y="-1908928"/>
              <a:ext cx="20345401" cy="82145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Inheritance is one of the foundational concepts of Object-Oriented Programming (OOP).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It allows a class to reuse the members (fields, properties, and methods) of another class.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Inheritance establishes a hierarchical relationship between two classes, enabling code reuse, extension, and organization.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The class that provides its members is called the base class (or parent class), and the class that inherits from it is called the derived class (or child class).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Basic Terminology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Base Class : The class that is inherited from.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Derived Class : The class that inherits from the base class.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BF6A0-40B1-22C8-2ED8-D996D8B7B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61C6AE-326E-20E9-9D88-8C558C767AC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8DDB184-BA81-3D05-301A-66FEEF281DD2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4F5EFFE-C294-763F-2DE7-8FBDFE0C2C99}"/>
              </a:ext>
            </a:extLst>
          </p:cNvPr>
          <p:cNvGrpSpPr/>
          <p:nvPr/>
        </p:nvGrpSpPr>
        <p:grpSpPr>
          <a:xfrm>
            <a:off x="1885598" y="2353193"/>
            <a:ext cx="15259050" cy="1961405"/>
            <a:chOff x="-1450966" y="-1908928"/>
            <a:chExt cx="20345401" cy="26152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EA8CD1D-380F-AE17-76F2-39791E5E68B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Syntax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38C0AC-5900-6716-0AA8-1B4A89B9B52E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F307B6D-6C92-D68D-4BAD-A1706F40CCE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DC7DD8-49E6-33A0-1D3D-1796311EAA70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565356-D162-14F9-5201-AD70FAC2515F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D27CE37-8DCE-CC7C-C137-995F7A63A32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378135-7371-31F0-BAD1-404E2DEC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EF492E-A2CC-5711-9CAE-B40984E80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1165" y="3192922"/>
            <a:ext cx="1297919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04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21712-80B2-0EB0-9E8A-A1FE864E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B8B532-F6C0-1C06-2C18-13719F919B98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9FAB8E-273E-7712-69EB-9BD2C715CF3F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C51D933-26DD-E78F-8E07-71E25E24141B}"/>
              </a:ext>
            </a:extLst>
          </p:cNvPr>
          <p:cNvGrpSpPr/>
          <p:nvPr/>
        </p:nvGrpSpPr>
        <p:grpSpPr>
          <a:xfrm>
            <a:off x="1885598" y="2353193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05521B3-2230-30A0-998B-DDB451B571D4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Types of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F4795E-AD31-8B66-7CBE-85E06C1F72DF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274A69F-08EC-AE48-FA33-AD23135E9E0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F1966D6-7A47-06F7-7A08-41E62FA3F48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9C7163-7058-49CA-1368-774FAB7FB195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1FE9F1B-D571-07A7-0FB1-38D616202B74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DD519B1-018D-ADB1-F2A6-0F79F067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FC6787-A9C4-8E00-186F-3D137C652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693" y="3642386"/>
            <a:ext cx="14189528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58BE2-4D7F-76B8-ABBD-A64401FF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28DEB7-F189-669F-EC8D-98CB22AB41E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E9C175-E056-1B95-76BB-D4041CC8BD5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A82B6C3-C984-F077-82A7-2CF28C3E2351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038EEE0-E6D8-69A4-5C7C-028D92D5A278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Single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055E0DE-72C8-853A-59B3-E53FF74EEB5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4539A58-06C6-EF7A-3E00-2B68FECA43C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F67DB1D-FC28-EFAE-13CE-3B0879CADAA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1D34C99-252D-77C1-294C-80148E9296C3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4BC262C-A5F7-B5D8-DB98-DA0C3271F4E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AA297BE-31F5-6571-8F84-8D4035144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77759E-7D86-8C7D-03CB-FF171F8D5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621" y="2943225"/>
            <a:ext cx="8792936" cy="431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E3A2BAD-F020-0FB5-00B0-930649647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508" y="7851296"/>
            <a:ext cx="8765049" cy="180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946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B3E6A3-110E-D78D-DB05-38E9C74B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2A7DD9-F8B3-7CE9-AC1D-C8825131341B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E612E0A-5FF3-9781-3E5D-D98E9FA0B929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32C09DA-1F3D-B40D-DFE3-20F0B93ECB2B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DC15B2D-F644-73DF-0EC1-B5516CE5D618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Multilevel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5DA1E0F-29E4-D313-E9FA-7E41CB6F1ADC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AB6077-F120-6E55-B912-64A518C44B5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18621A-A61B-08DE-F6E5-F5E0E727125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CBB8B1-26B2-4CB6-2AB7-3EF80996F8DD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E30BE14-5D92-D2FE-A925-08718EAF97B5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55B681-E1E6-850B-661F-B164DA1D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EE10944-D597-1099-CA8B-9D3763BB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822" y="3305261"/>
            <a:ext cx="12824071" cy="6679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557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D5D9A-722A-A2B0-B6CA-2E7FBC30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A5384C-430B-DF87-F0B4-F14FA6C924A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BD336BC-381F-F56D-45E1-C4B9FA869741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2B2B985-2FEA-7C06-7F49-BB7E37281C2F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67E3FC1-EF3E-0B90-D817-EFC69DF3BBC5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Multilevel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9FF988D-1087-3975-6626-9FF7C7EF4483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DBC695E-E5F6-4B2F-4B1D-519610233AE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DC046CA-EB6A-9DD8-D638-5DDC34C5319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471F8D5-0B46-8A49-62C0-60214A53FE88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B6AF90C-36CF-BADE-14CE-74BD23217659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AB42AA-1C1B-7F77-8481-35075036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C5F11D-7E8F-E5ED-4573-A1AB3566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14" y="3097667"/>
            <a:ext cx="12619963" cy="293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770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90707-CD61-FC81-F6C6-E84D69B3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F657F8-25E2-BA3F-4DC7-FE439AB4821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2E69E7-FAEF-BF28-9B89-E202EBB9B735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E1DBF15-0EED-261D-C2C0-7F759A673351}"/>
              </a:ext>
            </a:extLst>
          </p:cNvPr>
          <p:cNvGrpSpPr/>
          <p:nvPr/>
        </p:nvGrpSpPr>
        <p:grpSpPr>
          <a:xfrm>
            <a:off x="1885598" y="1993930"/>
            <a:ext cx="15259050" cy="2005934"/>
            <a:chOff x="-1450966" y="-1908928"/>
            <a:chExt cx="20345401" cy="267458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8FB0DA3-680A-76A4-2DA0-1E27EED7A7C1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267458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Hierarchical  Inheritance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D8A6EF-80AD-4290-9046-71989508F735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7B085EF-C8D0-E966-BF1D-36C53523879F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01BFD33-8B9C-FEFC-221E-F8F62DB2292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7ACE85-5DE5-AD31-849F-BC877EF23CF5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84ED795-2715-1A36-9208-665ACF50BD27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34608AE-1A7E-C8F7-4B74-E0A828EF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241B02-7CC7-69A3-576D-38AA00B7E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29" y="2784021"/>
            <a:ext cx="12646477" cy="664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81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57567-5B6A-6661-1DA3-19A9C713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AA7A25-4A6E-5B97-ACD5-4C348EB5B963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22CCDDC-EBA2-1A8E-1C1D-9602601BF27B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47821A5-5630-87DB-3F03-C6D835426A65}"/>
              </a:ext>
            </a:extLst>
          </p:cNvPr>
          <p:cNvGrpSpPr/>
          <p:nvPr/>
        </p:nvGrpSpPr>
        <p:grpSpPr>
          <a:xfrm>
            <a:off x="1885598" y="1993930"/>
            <a:ext cx="15259050" cy="3390928"/>
            <a:chOff x="-1450966" y="-1908928"/>
            <a:chExt cx="20345401" cy="452124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0E655A2-88D0-7E01-8F01-5551A52D18D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45212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Method Overriding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</a:t>
              </a:r>
            </a:p>
            <a:p>
              <a:pPr lvl="2" algn="just">
                <a:lnSpc>
                  <a:spcPct val="150000"/>
                </a:lnSpc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Derived class can modify the behavior of a method inherited from the base class. This is called method overriding.  Example,</a:t>
              </a:r>
            </a:p>
            <a:p>
              <a:pPr lvl="2" algn="just">
                <a:lnSpc>
                  <a:spcPct val="150000"/>
                </a:lnSpc>
              </a:pPr>
              <a:endParaRPr lang="en-US" sz="3000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872C645-B4CB-AB12-C12F-AF10427CBA11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2BA3532-9523-66F1-F814-ACEB8637FD4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36CC33-AD82-98A8-3054-F56AA9754D5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3680D9-D1A9-A503-8D79-DF8ECEC203C0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Inheritance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75CD1E8-E64B-0F1A-342D-7EA39CE12E2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9858702-D783-3C62-CEA4-CF03005F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C9228CE-7439-C17A-3ABB-09093A9D3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293" y="4391024"/>
            <a:ext cx="10074728" cy="515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555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904D4-92BB-101B-E1BA-97E31A25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F1EA4D-6022-E2A5-19C1-C1014FE72D80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34EC7FE-1D86-F2B0-A04C-BE2C866A8D0C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F8C775F-2D1A-3737-B5C7-805E3A96AA26}"/>
              </a:ext>
            </a:extLst>
          </p:cNvPr>
          <p:cNvGrpSpPr/>
          <p:nvPr/>
        </p:nvGrpSpPr>
        <p:grpSpPr>
          <a:xfrm>
            <a:off x="1885598" y="1993930"/>
            <a:ext cx="15259050" cy="6160917"/>
            <a:chOff x="-1450966" y="-1908928"/>
            <a:chExt cx="20345401" cy="82145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E8D1DA5-CAE2-374E-404F-2683E4B54499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8214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Polymorphism allows the same operation to behave differently based on the context.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Types of Polymorphism: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Compile-Time Polymorphism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 Also known as Method Overloading; decided at compile time.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Run-Time Polymorphism</a:t>
              </a: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: Also known as Method Overriding; decided at runtime.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Method Overriding: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Allows a derived class to provide a specific implementation of a method that is already defined in its base class.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The base class method must be marked with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virtual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keyword.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The derived class method must use the </a:t>
              </a:r>
              <a:r>
                <a:rPr lang="en-US" sz="3000" i="1" dirty="0">
                  <a:solidFill>
                    <a:srgbClr val="FFFFFF"/>
                  </a:solidFill>
                  <a:ea typeface="Calibri"/>
                  <a:cs typeface="Calibri"/>
                </a:rPr>
                <a:t>override</a:t>
              </a: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 keyword.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20099C8-FAFE-D8C0-99F9-17BF5C5E331D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67738ED-555C-DDEA-7D00-D22049D83F0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AFED217-1D07-560C-5326-734E2F44DC4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FD54BD-A7E6-D801-0134-D585989C1AAD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Polymorphism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9CCEB14-3D76-231F-7FA1-77E44895F990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EF5EB45-F255-4DC8-4972-A0303644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465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113CB-E1B6-2C7B-4947-CB04DD4F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E64663-637C-D15B-57EA-CBC9FE743FD9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917540C-C60E-298E-5E1E-A2F78260544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49425E0-0040-D284-DBD2-0376790B1EA8}"/>
              </a:ext>
            </a:extLst>
          </p:cNvPr>
          <p:cNvGrpSpPr/>
          <p:nvPr/>
        </p:nvGrpSpPr>
        <p:grpSpPr>
          <a:xfrm>
            <a:off x="1885598" y="1993930"/>
            <a:ext cx="15259050" cy="1961405"/>
            <a:chOff x="-1450966" y="-1908928"/>
            <a:chExt cx="20345401" cy="261520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4D20105-5659-515D-E0C4-E9B92907F9E3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17512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Example: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68F931-7CCD-54DA-E47E-E465035A427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ABFED9A-D674-A6EB-3847-334C23C430E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A1B69F-5195-5370-D5E9-49CD9A13904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E44B7AB-39CA-DD30-E9AC-431A415F9F4C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Polymorphism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B41C6C5-47CB-5904-D828-C20EB3FC348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C23C763-FBEB-75A7-F3AE-7E4AB4F97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53420F3-8D8F-144D-953F-20AD576F7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49" y="2614450"/>
            <a:ext cx="9748157" cy="500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D6C951C-240B-D1EC-9F38-9C603BF6D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48" y="7994807"/>
            <a:ext cx="9748157" cy="177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46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2925188" y="1467324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571933"/>
            <a:ext cx="10254993" cy="6800789"/>
            <a:chOff x="0" y="-5751"/>
            <a:chExt cx="13673324" cy="906771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869167"/>
              <a:ext cx="7271104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Sample Motivational Quotes: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2835" y="77233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"Keep pushing!",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8531" y="77360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"Believe in yourself!",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835" y="68851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"You're doing great!",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8531" y="6885167"/>
              <a:ext cx="5060012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"Every step counts!",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127" y="8586967"/>
              <a:ext cx="5182851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"Flutter on!"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41729" y="4681835"/>
            <a:ext cx="622118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Inheritance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35679" y="4559932"/>
            <a:ext cx="45417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Types of Inheritance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31891" y="5545418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63000" y="5592869"/>
            <a:ext cx="485202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GB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Polymorphism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410883">
            <a:off x="12294665" y="-1805330"/>
            <a:ext cx="11747274" cy="5668060"/>
          </a:xfrm>
          <a:custGeom>
            <a:avLst/>
            <a:gdLst/>
            <a:ahLst/>
            <a:cxnLst/>
            <a:rect l="l" t="t" r="r" b="b"/>
            <a:pathLst>
              <a:path w="11747274" h="5668060">
                <a:moveTo>
                  <a:pt x="0" y="0"/>
                </a:moveTo>
                <a:lnTo>
                  <a:pt x="11747274" y="0"/>
                </a:lnTo>
                <a:lnTo>
                  <a:pt x="11747274" y="5668060"/>
                </a:lnTo>
                <a:lnTo>
                  <a:pt x="0" y="566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5224993" y="6057900"/>
            <a:ext cx="11992069" cy="5786173"/>
          </a:xfrm>
          <a:custGeom>
            <a:avLst/>
            <a:gdLst/>
            <a:ahLst/>
            <a:cxnLst/>
            <a:rect l="l" t="t" r="r" b="b"/>
            <a:pathLst>
              <a:path w="11992069" h="5786173">
                <a:moveTo>
                  <a:pt x="0" y="0"/>
                </a:moveTo>
                <a:lnTo>
                  <a:pt x="11992070" y="0"/>
                </a:lnTo>
                <a:lnTo>
                  <a:pt x="11992070" y="5786173"/>
                </a:lnTo>
                <a:lnTo>
                  <a:pt x="0" y="578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F67C95-F429-41D8-AB86-E4D31ECF0D34}"/>
</file>

<file path=customXml/itemProps2.xml><?xml version="1.0" encoding="utf-8"?>
<ds:datastoreItem xmlns:ds="http://schemas.openxmlformats.org/officeDocument/2006/customXml" ds:itemID="{6AFE1E04-F15F-4D90-9F51-143546DC06D6}"/>
</file>

<file path=customXml/itemProps3.xml><?xml version="1.0" encoding="utf-8"?>
<ds:datastoreItem xmlns:ds="http://schemas.openxmlformats.org/officeDocument/2006/customXml" ds:itemID="{41D7FFA3-5EA2-42A7-8DA9-704A61D76576}"/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361</Words>
  <Application>Microsoft Office PowerPoint</Application>
  <PresentationFormat>Custom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Agrandir</vt:lpstr>
      <vt:lpstr>Courier New</vt:lpstr>
      <vt:lpstr>Arial</vt:lpstr>
      <vt:lpstr>Calibri</vt:lpstr>
      <vt:lpstr>Assistant Regular Bold</vt:lpstr>
      <vt:lpstr>Assistant Regular</vt:lpstr>
      <vt:lpstr>Heebo Black</vt:lpstr>
      <vt:lpstr>HK Modular</vt:lpstr>
      <vt:lpstr>Horizon</vt:lpstr>
      <vt:lpstr>Aptos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34</cp:revision>
  <dcterms:created xsi:type="dcterms:W3CDTF">2006-08-16T00:00:00Z</dcterms:created>
  <dcterms:modified xsi:type="dcterms:W3CDTF">2025-07-11T11:21:52Z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