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Agrandir" panose="020B0604020202020204" charset="0"/>
      <p:regular r:id="rId18"/>
    </p:embeddedFont>
    <p:embeddedFont>
      <p:font typeface="Assistant Regular" panose="020B0604020202020204" charset="-79"/>
      <p:regular r:id="rId19"/>
    </p:embeddedFont>
    <p:embeddedFont>
      <p:font typeface="Assistant Regular Bold" panose="020B0604020202020204" charset="-79"/>
      <p:regular r:id="rId20"/>
    </p:embeddedFont>
    <p:embeddedFont>
      <p:font typeface="Heebo Black" pitchFamily="2" charset="-79"/>
      <p:regular r:id="rId21"/>
      <p:bold r:id="rId22"/>
    </p:embeddedFont>
    <p:embeddedFont>
      <p:font typeface="Horizo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82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452A0-443B-4AE5-844F-327A951B6869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C7330-2FF3-4E19-A871-082ECA4DA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5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4450" y="2240806"/>
            <a:ext cx="15324363" cy="4695700"/>
            <a:chOff x="-665728" y="-1910308"/>
            <a:chExt cx="17217406" cy="6260934"/>
          </a:xfrm>
        </p:grpSpPr>
        <p:sp>
          <p:nvSpPr>
            <p:cNvPr id="3" name="TextBox 3"/>
            <p:cNvSpPr txBox="1"/>
            <p:nvPr/>
          </p:nvSpPr>
          <p:spPr>
            <a:xfrm>
              <a:off x="-665728" y="-1910308"/>
              <a:ext cx="17217406" cy="4622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spc="279" dirty="0">
                  <a:solidFill>
                    <a:srgbClr val="FFFFFF"/>
                  </a:solidFill>
                  <a:ea typeface="+mn-lt"/>
                  <a:cs typeface="+mn-lt"/>
                  <a:sym typeface="Heebo Black"/>
                </a:rPr>
                <a:t>Introductions to MVC/REST APIs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393304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Mr. </a:t>
            </a:r>
            <a:r>
              <a:rPr lang="en-US" sz="3200" b="1" err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Krishnaraj</a:t>
            </a:r>
            <a:endParaRPr lang="en-US" sz="3200" b="1">
              <a:solidFill>
                <a:srgbClr val="FFFFFF"/>
              </a:solidFill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515029" y="1104900"/>
            <a:ext cx="988088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Todays 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3951514" y="2847678"/>
            <a:ext cx="6486668" cy="881343"/>
            <a:chOff x="0" y="0"/>
            <a:chExt cx="7481570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1982" y="232552"/>
              <a:ext cx="5989588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MVC  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38182" y="2862748"/>
            <a:ext cx="5347005" cy="881343"/>
            <a:chOff x="0" y="0"/>
            <a:chExt cx="7129340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41420" y="260950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Controllers 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51514" y="5769468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81563" y="5580349"/>
            <a:ext cx="5347005" cy="881343"/>
            <a:chOff x="0" y="0"/>
            <a:chExt cx="7129340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41420" y="232472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 Assignments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GB"/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3951514" y="7208796"/>
            <a:ext cx="5447375" cy="881343"/>
            <a:chOff x="0" y="0"/>
            <a:chExt cx="7263168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</a:rPr>
                <a:t>7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675248" y="223500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 Debrief</a:t>
              </a:r>
            </a:p>
          </p:txBody>
        </p:sp>
      </p:grpSp>
      <p:grpSp>
        <p:nvGrpSpPr>
          <p:cNvPr id="2" name="Group 29">
            <a:extLst>
              <a:ext uri="{FF2B5EF4-FFF2-40B4-BE49-F238E27FC236}">
                <a16:creationId xmlns:a16="http://schemas.microsoft.com/office/drawing/2014/main" id="{2D07E243-CDA4-11B4-B8E0-38474E7175F0}"/>
              </a:ext>
            </a:extLst>
          </p:cNvPr>
          <p:cNvGrpSpPr/>
          <p:nvPr/>
        </p:nvGrpSpPr>
        <p:grpSpPr>
          <a:xfrm>
            <a:off x="3951514" y="4330140"/>
            <a:ext cx="5548532" cy="881343"/>
            <a:chOff x="0" y="0"/>
            <a:chExt cx="7398043" cy="1175123"/>
          </a:xfrm>
        </p:grpSpPr>
        <p:grpSp>
          <p:nvGrpSpPr>
            <p:cNvPr id="3" name="Group 30">
              <a:extLst>
                <a:ext uri="{FF2B5EF4-FFF2-40B4-BE49-F238E27FC236}">
                  <a16:creationId xmlns:a16="http://schemas.microsoft.com/office/drawing/2014/main" id="{EB205028-00CC-676E-6E33-5B0256DAFC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0" name="Freeform 31">
                <a:extLst>
                  <a:ext uri="{FF2B5EF4-FFF2-40B4-BE49-F238E27FC236}">
                    <a16:creationId xmlns:a16="http://schemas.microsoft.com/office/drawing/2014/main" id="{2162F220-F57A-B9DE-6EBE-15FF56AF1B5E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32">
              <a:extLst>
                <a:ext uri="{FF2B5EF4-FFF2-40B4-BE49-F238E27FC236}">
                  <a16:creationId xmlns:a16="http://schemas.microsoft.com/office/drawing/2014/main" id="{7804C8B3-ECF4-8E47-5055-AFE7F31D8762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3</a:t>
              </a:r>
            </a:p>
          </p:txBody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DF91B3D2-48C8-DD0C-AA92-085A99DA326E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JSON </a:t>
              </a:r>
            </a:p>
          </p:txBody>
        </p:sp>
      </p:grpSp>
      <p:grpSp>
        <p:nvGrpSpPr>
          <p:cNvPr id="21" name="Group 29">
            <a:extLst>
              <a:ext uri="{FF2B5EF4-FFF2-40B4-BE49-F238E27FC236}">
                <a16:creationId xmlns:a16="http://schemas.microsoft.com/office/drawing/2014/main" id="{D9D47778-7453-B1ED-6A32-57A257A4F42A}"/>
              </a:ext>
            </a:extLst>
          </p:cNvPr>
          <p:cNvGrpSpPr/>
          <p:nvPr/>
        </p:nvGrpSpPr>
        <p:grpSpPr>
          <a:xfrm>
            <a:off x="10438182" y="4312221"/>
            <a:ext cx="5548532" cy="881343"/>
            <a:chOff x="0" y="0"/>
            <a:chExt cx="7398043" cy="1175123"/>
          </a:xfrm>
        </p:grpSpPr>
        <p:grpSp>
          <p:nvGrpSpPr>
            <p:cNvPr id="22" name="Group 30">
              <a:extLst>
                <a:ext uri="{FF2B5EF4-FFF2-40B4-BE49-F238E27FC236}">
                  <a16:creationId xmlns:a16="http://schemas.microsoft.com/office/drawing/2014/main" id="{49D29020-DE3C-657F-943C-2926D20133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5" name="Freeform 31">
                <a:extLst>
                  <a:ext uri="{FF2B5EF4-FFF2-40B4-BE49-F238E27FC236}">
                    <a16:creationId xmlns:a16="http://schemas.microsoft.com/office/drawing/2014/main" id="{360E46D9-7777-C56F-8DAA-818B0AEE71C0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32">
              <a:extLst>
                <a:ext uri="{FF2B5EF4-FFF2-40B4-BE49-F238E27FC236}">
                  <a16:creationId xmlns:a16="http://schemas.microsoft.com/office/drawing/2014/main" id="{D0BE9127-8ADF-3361-9773-86BB1220D7F3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4</a:t>
              </a:r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E98A57FC-2E79-8682-0B0A-F75773F41C2D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API Development (REST)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6F8A2-1D45-0165-A2E9-31E5A20F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5DB41C-312D-414B-3C1B-1A23A3EFB46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C1ACED1-EB5E-1F0E-1782-1988ABCCFEB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E0BABA2-4A3F-648E-685D-B50A1CECE8D8}"/>
              </a:ext>
            </a:extLst>
          </p:cNvPr>
          <p:cNvGrpSpPr/>
          <p:nvPr/>
        </p:nvGrpSpPr>
        <p:grpSpPr>
          <a:xfrm>
            <a:off x="1885598" y="2004457"/>
            <a:ext cx="15259050" cy="8930906"/>
            <a:chOff x="-1450966" y="-2373910"/>
            <a:chExt cx="20345401" cy="119078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37DBB12-60C7-1B01-749D-1C723D6C3F09}"/>
                </a:ext>
              </a:extLst>
            </p:cNvPr>
            <p:cNvSpPr txBox="1"/>
            <p:nvPr/>
          </p:nvSpPr>
          <p:spPr>
            <a:xfrm>
              <a:off x="-1450966" y="-2373910"/>
              <a:ext cx="20345401" cy="11907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It's a design pattern used in software engineering for developing applications (especially web and desktop apps) that separates concerns across three interconnected components called Model, View and Controller.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1. Model :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Model represents the data and the business logic of the application.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Model knows everything about the data, how to process it, and how to store it.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Model is responsible for, </a:t>
              </a:r>
            </a:p>
            <a:p>
              <a:pPr marL="1885950" lvl="3" indent="-51435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Manages data and logic</a:t>
              </a:r>
            </a:p>
            <a:p>
              <a:pPr marL="1885950" lvl="3" indent="-51435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Interacts with the database </a:t>
              </a:r>
            </a:p>
            <a:p>
              <a:pPr marL="1885950" lvl="3" indent="-51435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Implements business rules </a:t>
              </a:r>
            </a:p>
            <a:p>
              <a:pPr lvl="3" algn="just">
                <a:lnSpc>
                  <a:spcPct val="150000"/>
                </a:lnSpc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60FEAAC-42C3-AC95-7F62-1CD93E2500D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6E1967B-CD53-AAA4-F404-F56D592D03E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7CECC1-031F-5EC6-4D1D-441B2B0570D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24D7B8C-42CC-9651-A948-2193C00C27E7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MVC (Model-View-Controller)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4FE42C2-A7D5-5755-004C-E66097649BC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3AEABBE-5E9E-DAA8-8773-2E17F8A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8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A2557-D98C-4979-2762-EB4E7E7B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6310AD-4605-A998-D6DF-EBE566669B76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0B4C37A-85DF-1FA5-01B2-8021972960D5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A821EE3-5CEB-B864-A775-E9C76C3ED85E}"/>
              </a:ext>
            </a:extLst>
          </p:cNvPr>
          <p:cNvGrpSpPr/>
          <p:nvPr/>
        </p:nvGrpSpPr>
        <p:grpSpPr>
          <a:xfrm>
            <a:off x="1885598" y="2004457"/>
            <a:ext cx="15259050" cy="8930906"/>
            <a:chOff x="-1450966" y="-2373910"/>
            <a:chExt cx="20345401" cy="119078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EDC6B2E-04E0-BB8F-F249-336706B70863}"/>
                </a:ext>
              </a:extLst>
            </p:cNvPr>
            <p:cNvSpPr txBox="1"/>
            <p:nvPr/>
          </p:nvSpPr>
          <p:spPr>
            <a:xfrm>
              <a:off x="-1450966" y="-2373910"/>
              <a:ext cx="20345401" cy="11907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2. View :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View is responsible for presenting data to the user.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 defines how the application looks, not how it works.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We can think about the View as the face of the application where it shows data and collects user input visually.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View is responsible for,</a:t>
              </a:r>
            </a:p>
            <a:p>
              <a:pPr marL="1828800" lvl="3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Display Data from the Model</a:t>
              </a:r>
            </a:p>
            <a:p>
              <a:pPr marL="1828800" lvl="3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Render UI Components </a:t>
              </a:r>
            </a:p>
            <a:p>
              <a:pPr marL="1885950" lvl="3" indent="-51435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Collect User Input </a:t>
              </a:r>
            </a:p>
            <a:p>
              <a:pPr marL="1885950" lvl="3" indent="-51435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Send User Actions to the Controller</a:t>
              </a:r>
            </a:p>
            <a:p>
              <a:pPr lvl="3" algn="just">
                <a:lnSpc>
                  <a:spcPct val="150000"/>
                </a:lnSpc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278B2C8-D7B3-0D1F-43A7-F5843447CAC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FB1E0C5-8173-22DC-4662-5C26AA781F4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C035E3-29C1-F694-1AEC-4B36F118CA6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3B40B24-E956-0A33-3A1F-88AD321F345A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MVC (Model-View-Controller)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34C589E-1CC9-5B95-0ED9-6B3FC01A8C7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B058E08-90BD-0A43-A805-9E38F19C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66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49088-F180-A6C2-F6F7-37346E07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7704F3-4F64-C186-F424-5C0C2D4FD0A2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865D449-0AAA-BAB9-914C-5648910A3A91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557F6CA-B45C-F91B-4B74-CB03147ED88E}"/>
              </a:ext>
            </a:extLst>
          </p:cNvPr>
          <p:cNvGrpSpPr/>
          <p:nvPr/>
        </p:nvGrpSpPr>
        <p:grpSpPr>
          <a:xfrm>
            <a:off x="1885598" y="2004457"/>
            <a:ext cx="15259050" cy="10315901"/>
            <a:chOff x="-1450966" y="-2373910"/>
            <a:chExt cx="20345401" cy="1375454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AE91E64-85BB-42B9-14C0-1C3407E77CE6}"/>
                </a:ext>
              </a:extLst>
            </p:cNvPr>
            <p:cNvSpPr txBox="1"/>
            <p:nvPr/>
          </p:nvSpPr>
          <p:spPr>
            <a:xfrm>
              <a:off x="-1450966" y="-2373910"/>
              <a:ext cx="20345401" cy="137545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3. Controller :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Controller acts as a middleman between the View (user interface) and the Model (data and logic).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 handles user input, performs necessary processing, and decides what to do next.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 can be considered as a traffic cop who decides where requests go, what logic runs, and what gets shown.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Key responsible for Controller are, </a:t>
              </a:r>
            </a:p>
            <a:p>
              <a:pPr marL="1828800" lvl="3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Handle User Input</a:t>
              </a:r>
            </a:p>
            <a:p>
              <a:pPr marL="1828800" lvl="3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Process Requests</a:t>
              </a:r>
            </a:p>
            <a:p>
              <a:pPr marL="1828800" lvl="3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Update the View</a:t>
              </a:r>
            </a:p>
            <a:p>
              <a:pPr marL="1828800" lvl="3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Control Application Flow </a:t>
              </a:r>
            </a:p>
            <a:p>
              <a:pPr marL="1828800" lvl="3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lvl="3" algn="just">
                <a:lnSpc>
                  <a:spcPct val="150000"/>
                </a:lnSpc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0796588-0BED-8922-0229-41500803B67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9E5A170-4B88-ABBA-D28E-D6EF4CB6340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CDAE1AC-AEB3-65E9-FBB3-54B20A7F46A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C680860-2CAA-0842-4656-C99A462ABB4A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MVC (Model-View-Controller)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37ED6B2-6929-3377-A46A-27F2E0557797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934F25F-56A4-223A-AC37-CFCDED11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98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4A51E-DA90-4F04-ED71-37D5BAFC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BB558E-DF2A-41DA-FE7E-85A429FE51CE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D5677E6-AE1D-A942-5232-9CA0ECDA0C64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5212BAA-D23D-117F-82B2-B397D7A605F3}"/>
              </a:ext>
            </a:extLst>
          </p:cNvPr>
          <p:cNvGrpSpPr/>
          <p:nvPr/>
        </p:nvGrpSpPr>
        <p:grpSpPr>
          <a:xfrm>
            <a:off x="1885598" y="2004457"/>
            <a:ext cx="15259050" cy="6160917"/>
            <a:chOff x="-1450966" y="-2373910"/>
            <a:chExt cx="20345401" cy="821456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D1F25FD-3315-761A-2AB5-459B464B1E1E}"/>
                </a:ext>
              </a:extLst>
            </p:cNvPr>
            <p:cNvSpPr txBox="1"/>
            <p:nvPr/>
          </p:nvSpPr>
          <p:spPr>
            <a:xfrm>
              <a:off x="-1450966" y="-2373910"/>
              <a:ext cx="20345401" cy="8214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Web Framework using MVC :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ASP.NET MVC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Django (technically MTV, like MVC)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Ruby on Rails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Laravel (PHP) </a:t>
              </a:r>
            </a:p>
            <a:p>
              <a:pPr algn="just">
                <a:lnSpc>
                  <a:spcPct val="150000"/>
                </a:lnSpc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Example:</a:t>
              </a:r>
            </a:p>
            <a:p>
              <a:pPr algn="just">
                <a:lnSpc>
                  <a:spcPct val="150000"/>
                </a:lnSpc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	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C1E7DA0-5077-DF8B-0449-4928E9CAD57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CF5C0D3-D4F1-0A4C-C2C0-79FD09F319E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139B5D-5CEE-8DA1-F7E4-5A19A34D7C8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DA3031-DD5C-1BF9-3CE2-95D9332DBB2C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MVC (Model-View-Controller)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0C7251E-6EDA-F9CE-2FD7-A80B4EB5B49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C6324F-FC4F-4ECC-C9CA-F15D8062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30E283-4A6C-1AF9-688D-205CC3C8F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598" y="6617670"/>
            <a:ext cx="14933836" cy="240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99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A6108-074B-581F-9DDB-32A5E2A7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3F9EB5-C07D-3C56-2EEB-19341CAF974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3DCABD1-EE4A-5F91-199B-89FB3DD68462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1F9F24D-90A7-E4CC-2FBC-989AD78229D7}"/>
              </a:ext>
            </a:extLst>
          </p:cNvPr>
          <p:cNvGrpSpPr/>
          <p:nvPr/>
        </p:nvGrpSpPr>
        <p:grpSpPr>
          <a:xfrm>
            <a:off x="1885598" y="2004457"/>
            <a:ext cx="15259050" cy="8238409"/>
            <a:chOff x="-1450966" y="-2373910"/>
            <a:chExt cx="20345401" cy="1098455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99016AB-C375-A99E-3BC9-46487AA11B3A}"/>
                </a:ext>
              </a:extLst>
            </p:cNvPr>
            <p:cNvSpPr txBox="1"/>
            <p:nvPr/>
          </p:nvSpPr>
          <p:spPr>
            <a:xfrm>
              <a:off x="-1450966" y="-2373910"/>
              <a:ext cx="20345401" cy="109845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 is a lightweight, text-based format used for exchanging data between a server and a client or between different parts of an application.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 represents data as simple key-value pairs organized into objects and arrays, making it easy to read and write for both humans and machines. </a:t>
              </a: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	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Json Syntax: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	Here,</a:t>
              </a:r>
            </a:p>
            <a:p>
              <a:pPr lvl="3" algn="just">
                <a:lnSpc>
                  <a:spcPct val="150000"/>
                </a:lnSpc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“Value” can be Strings (in double quotes), Numbers (integer or float), Objects (another JSON object), Arrays, Booleans (true or false) and Null (null) .</a:t>
              </a:r>
            </a:p>
            <a:p>
              <a:pPr marL="914400" lvl="1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34B690E-B8A6-6FEE-72B2-6648D8FAE5D1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5E86B68-9F76-7584-394D-D73CFCA92A6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6E235C9-973B-295A-CE4A-7B74D4456DF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9DA1F2A-755C-185A-160D-39A5443A43A9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JSON- JavaScript Object Notation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7EDBAF2-BF11-18E6-5A26-3650002F883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E23C563-FF4E-8D42-2F2B-340C49E5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F23816-4EE3-D23E-D700-A9A7A00C1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3822" y="5638981"/>
            <a:ext cx="12508071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0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5D358-76E1-659F-3EA4-FDB49645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9F3130-9696-7918-9F8C-D7E007EFDB81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5F0A93F-65E2-7700-B715-3C2B74130FC6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B6B71F-2F7D-FE98-2B8B-6C2BB9EE6AE3}"/>
              </a:ext>
            </a:extLst>
          </p:cNvPr>
          <p:cNvGrpSpPr/>
          <p:nvPr/>
        </p:nvGrpSpPr>
        <p:grpSpPr>
          <a:xfrm>
            <a:off x="1885597" y="1486869"/>
            <a:ext cx="15259050" cy="8238409"/>
            <a:chOff x="-1450967" y="-3064028"/>
            <a:chExt cx="20345401" cy="1098455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D026A86-5755-6821-DFBB-545EF21AFBBD}"/>
                </a:ext>
              </a:extLst>
            </p:cNvPr>
            <p:cNvSpPr txBox="1"/>
            <p:nvPr/>
          </p:nvSpPr>
          <p:spPr>
            <a:xfrm>
              <a:off x="-1450967" y="-3064028"/>
              <a:ext cx="20345401" cy="109845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Example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150000"/>
                </a:lnSpc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JSON Array 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JSON Array is an ordered list of values enclosed in square brackets [ ]. The values inside a JSON array can be of any valid JSON type: strings, numbers, objects, arrays,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booleans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or null.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914400" lvl="1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1696D4-5916-4DEA-3CDC-0B9871E088B7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05FE579-5684-BCF7-78AE-8A4AE4894AA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5315770-45A5-7E3A-A9CB-40AF564EBE0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3BE05BE-14CE-4BAE-429B-99085ED4CCFE}"/>
              </a:ext>
            </a:extLst>
          </p:cNvPr>
          <p:cNvSpPr txBox="1"/>
          <p:nvPr/>
        </p:nvSpPr>
        <p:spPr>
          <a:xfrm>
            <a:off x="1718533" y="229835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JSON- JavaScript Object Notation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843F47E-E932-8F01-345C-1EB53F69063D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4D3D1F4-02A7-E580-7C20-06A85F46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E4242E-142D-6DCE-2E56-D3A20E2A1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667" y="2327396"/>
            <a:ext cx="11729947" cy="1971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7EDBAF-9212-436C-2B04-41C2F9D99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800" y="7048196"/>
            <a:ext cx="129474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0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CDAF4-E5A6-7AB1-BC28-454AD0E8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B0438C-DB7B-1D1C-3698-017F0AE68995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2C7AAE1-2AA4-EF7A-9081-488AE2F096B1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EB4B2D3-5369-5A99-CFA0-7B508D7A6428}"/>
              </a:ext>
            </a:extLst>
          </p:cNvPr>
          <p:cNvGrpSpPr/>
          <p:nvPr/>
        </p:nvGrpSpPr>
        <p:grpSpPr>
          <a:xfrm>
            <a:off x="1885597" y="1486869"/>
            <a:ext cx="15259050" cy="2827729"/>
            <a:chOff x="-1450967" y="-3064028"/>
            <a:chExt cx="20345401" cy="37703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092E5E-B941-B271-2EF3-634701E36C7E}"/>
                </a:ext>
              </a:extLst>
            </p:cNvPr>
            <p:cNvSpPr txBox="1"/>
            <p:nvPr/>
          </p:nvSpPr>
          <p:spPr>
            <a:xfrm>
              <a:off x="-1450967" y="-3064028"/>
              <a:ext cx="20345401" cy="26745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Array of JSON Objects: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An array of JSON objects is simply a list ([]) containing multiple JSON objects ({}).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A9DF21F-FBC0-09B3-2E3A-EC2DD7ECF7EA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D922098-6875-F3BE-3254-650CA642985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4B6895D-CF11-396F-4647-07985AD5B2C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B43FAB8-0A8E-0967-302F-90753E53C1A1}"/>
              </a:ext>
            </a:extLst>
          </p:cNvPr>
          <p:cNvSpPr txBox="1"/>
          <p:nvPr/>
        </p:nvSpPr>
        <p:spPr>
          <a:xfrm>
            <a:off x="1718533" y="229835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JSON- JavaScript Object Notation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84B8359-1162-60C1-C9C8-F1F58C2AEB9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2B3ECF8-FE7D-F522-0FA8-08FEFEE9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2EC396-6B63-328A-56F7-19397EF82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3393" y="3016489"/>
            <a:ext cx="14107886" cy="377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FBA1B-C96C-9B51-D4AE-9EE142D47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24EC53-38D1-1B7F-037C-911FAA36C4BB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155C53-6CFA-E4E0-70F1-FB34150C6F83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3D557B3-C834-C67E-71E8-82ED2255F774}"/>
              </a:ext>
            </a:extLst>
          </p:cNvPr>
          <p:cNvGrpSpPr/>
          <p:nvPr/>
        </p:nvGrpSpPr>
        <p:grpSpPr>
          <a:xfrm>
            <a:off x="1885597" y="1486869"/>
            <a:ext cx="15259050" cy="2827729"/>
            <a:chOff x="-1450967" y="-3064028"/>
            <a:chExt cx="20345401" cy="37703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E31906B-7D29-72A8-9350-78A795652261}"/>
                </a:ext>
              </a:extLst>
            </p:cNvPr>
            <p:cNvSpPr txBox="1"/>
            <p:nvPr/>
          </p:nvSpPr>
          <p:spPr>
            <a:xfrm>
              <a:off x="-1450967" y="-3064028"/>
              <a:ext cx="20345401" cy="1751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Example: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user data from the server to the client.</a:t>
              </a: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B3B09D8-72DE-7580-C444-83604A023896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2708DC0-A846-01BF-D07C-9AB957CEEF5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7E153FD-1B8B-2259-450A-824859AA627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6A867C-878F-CCF5-1D6F-C4F75E4B6271}"/>
              </a:ext>
            </a:extLst>
          </p:cNvPr>
          <p:cNvSpPr txBox="1"/>
          <p:nvPr/>
        </p:nvSpPr>
        <p:spPr>
          <a:xfrm>
            <a:off x="1718533" y="229835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JSON- JavaScript Object Notation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12D786A-8B04-5E34-30D5-12E39A7523A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C4815E5-05D1-1F87-8EAD-C621101E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475EA8-4331-EFF1-B6D9-5A182DAC8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767" y="2982795"/>
            <a:ext cx="15259050" cy="71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0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0D270-8C8E-FD15-5945-39135AD5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17BFFE-5877-167F-14F0-1FD4083EEF66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67ED836-0D3A-C2D6-F2B4-9CBDA3E566DC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DCC3688-62B6-33E8-3E67-EA53C893564E}"/>
              </a:ext>
            </a:extLst>
          </p:cNvPr>
          <p:cNvGrpSpPr/>
          <p:nvPr/>
        </p:nvGrpSpPr>
        <p:grpSpPr>
          <a:xfrm>
            <a:off x="1718533" y="1371458"/>
            <a:ext cx="15426114" cy="8930906"/>
            <a:chOff x="-1673719" y="-3217909"/>
            <a:chExt cx="20568153" cy="1190788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FEB6600-999C-42A6-04BE-5380EDBC655F}"/>
                </a:ext>
              </a:extLst>
            </p:cNvPr>
            <p:cNvSpPr txBox="1"/>
            <p:nvPr/>
          </p:nvSpPr>
          <p:spPr>
            <a:xfrm>
              <a:off x="-1673719" y="-3217909"/>
              <a:ext cx="20568153" cy="119078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A REST API (Representational State Transfer Application Programming Interface) is a widely used web service that allows systems to communicate over the internet using standard HTTP methods such as GET, POST, PUT, and DELETE. </a:t>
              </a: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 treats data as resources, which can be accessed and manipulated using unique URLs called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endpoints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REST APIs are stateless, meaning each request is independent. Data is typically exchanged in JSON.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Features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Platform Independent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Standard Communication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Statelessness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Supports CRUD Operations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Secure Access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6FFC2FA-9ED7-9623-BD6D-BEAD2E4B2F0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FC7B6DE-AD25-A9DD-FC48-A3B684BB2DBD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E9A3DA7-1652-366B-17EB-09A976A4DB6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ED38E0-E0CC-2630-06E0-9E8EDCED3D75}"/>
              </a:ext>
            </a:extLst>
          </p:cNvPr>
          <p:cNvSpPr txBox="1"/>
          <p:nvPr/>
        </p:nvSpPr>
        <p:spPr>
          <a:xfrm>
            <a:off x="1718533" y="148431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REST API 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28A6E45-1675-F558-90DD-3F9A9165F441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555DC79-E621-7E79-6122-9A6B14C1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434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9EEF1-3EE9-C5CD-E58A-ABD93C43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657568-86AF-2093-5BEA-A6B409A35376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2F7F16-400A-C808-D4BE-B72F3E8B65A7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4691B86-A7B7-CFAE-0503-A17C40EDCCB4}"/>
              </a:ext>
            </a:extLst>
          </p:cNvPr>
          <p:cNvGrpSpPr/>
          <p:nvPr/>
        </p:nvGrpSpPr>
        <p:grpSpPr>
          <a:xfrm>
            <a:off x="1718533" y="1371458"/>
            <a:ext cx="15426114" cy="2943140"/>
            <a:chOff x="-1673719" y="-3217909"/>
            <a:chExt cx="20568153" cy="392418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A182826-5609-070B-873F-B5D6C0AEB5BA}"/>
                </a:ext>
              </a:extLst>
            </p:cNvPr>
            <p:cNvSpPr txBox="1"/>
            <p:nvPr/>
          </p:nvSpPr>
          <p:spPr>
            <a:xfrm>
              <a:off x="-1673719" y="-3217909"/>
              <a:ext cx="20568153" cy="1751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Use Case: Online Food Delivery App (like Swiggy or Zomato)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ABC19F-0D16-090C-56FA-92485B19CFC2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C5DF05-D99A-6376-5EF3-5E0C62CBDC9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32BCE4E-4BF7-DBD6-D0AF-7A5E71D0F83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AB4FB7-D677-EE83-E490-A6B1DCFFDBA6}"/>
              </a:ext>
            </a:extLst>
          </p:cNvPr>
          <p:cNvSpPr txBox="1"/>
          <p:nvPr/>
        </p:nvSpPr>
        <p:spPr>
          <a:xfrm>
            <a:off x="1718533" y="148431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REST API 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5659D80-D63B-AF70-C453-718ED49D2AF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06982E6-9EBC-B9C3-014B-7B761B1A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38A15C-E253-EB5A-BD59-075A4AD32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062" y="2838750"/>
            <a:ext cx="14909055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87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96950" y="4776579"/>
            <a:ext cx="443893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dirty="0">
                <a:solidFill>
                  <a:srgbClr val="33123B"/>
                </a:solidFill>
                <a:ea typeface="+mn-lt"/>
                <a:cs typeface="+mn-lt"/>
                <a:sym typeface="Agrandir"/>
              </a:rPr>
              <a:t>MVC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709107" y="4545746"/>
            <a:ext cx="454177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Controllers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21635" y="5478631"/>
            <a:ext cx="3346139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REST APIs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GB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2558BEF-52DF-C0CB-3A5D-49B14EC0C2D1}"/>
              </a:ext>
            </a:extLst>
          </p:cNvPr>
          <p:cNvSpPr txBox="1"/>
          <p:nvPr/>
        </p:nvSpPr>
        <p:spPr>
          <a:xfrm>
            <a:off x="3786093" y="5609259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JSON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88934-27BD-A973-1154-83E32ADE957B}"/>
              </a:ext>
            </a:extLst>
          </p:cNvPr>
          <p:cNvSpPr txBox="1"/>
          <p:nvPr/>
        </p:nvSpPr>
        <p:spPr>
          <a:xfrm>
            <a:off x="7147070" y="6535116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548652"/>
            <a:ext cx="1122942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dirty="0">
              <a:ea typeface="Calibri"/>
              <a:cs typeface="Calibri"/>
              <a:hlinkClick r:id="" action="ppaction://noaction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410883">
            <a:off x="12294665" y="-1805330"/>
            <a:ext cx="11747274" cy="5668060"/>
          </a:xfrm>
          <a:custGeom>
            <a:avLst/>
            <a:gdLst/>
            <a:ahLst/>
            <a:cxnLst/>
            <a:rect l="l" t="t" r="r" b="b"/>
            <a:pathLst>
              <a:path w="11747274" h="5668060">
                <a:moveTo>
                  <a:pt x="0" y="0"/>
                </a:moveTo>
                <a:lnTo>
                  <a:pt x="11747274" y="0"/>
                </a:lnTo>
                <a:lnTo>
                  <a:pt x="11747274" y="5668060"/>
                </a:lnTo>
                <a:lnTo>
                  <a:pt x="0" y="5668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5224993" y="6057900"/>
            <a:ext cx="11992069" cy="5786173"/>
          </a:xfrm>
          <a:custGeom>
            <a:avLst/>
            <a:gdLst/>
            <a:ahLst/>
            <a:cxnLst/>
            <a:rect l="l" t="t" r="r" b="b"/>
            <a:pathLst>
              <a:path w="11992069" h="5786173">
                <a:moveTo>
                  <a:pt x="0" y="0"/>
                </a:moveTo>
                <a:lnTo>
                  <a:pt x="11992070" y="0"/>
                </a:lnTo>
                <a:lnTo>
                  <a:pt x="11992070" y="5786173"/>
                </a:lnTo>
                <a:lnTo>
                  <a:pt x="0" y="578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FC4781-D881-48B3-A4F2-B8BA67ADC1B7}"/>
</file>

<file path=customXml/itemProps2.xml><?xml version="1.0" encoding="utf-8"?>
<ds:datastoreItem xmlns:ds="http://schemas.openxmlformats.org/officeDocument/2006/customXml" ds:itemID="{5775817D-7F7F-4353-8189-059273C6DDBC}"/>
</file>

<file path=customXml/itemProps3.xml><?xml version="1.0" encoding="utf-8"?>
<ds:datastoreItem xmlns:ds="http://schemas.openxmlformats.org/officeDocument/2006/customXml" ds:itemID="{B4158C9B-66C7-4E23-89C3-20928DA28DF9}"/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634</Words>
  <Application>Microsoft Office PowerPoint</Application>
  <PresentationFormat>Custom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Aptos</vt:lpstr>
      <vt:lpstr>Wingdings</vt:lpstr>
      <vt:lpstr>Assistant Regular</vt:lpstr>
      <vt:lpstr>Calibri</vt:lpstr>
      <vt:lpstr>Arial</vt:lpstr>
      <vt:lpstr>Horizon</vt:lpstr>
      <vt:lpstr>Heebo Black</vt:lpstr>
      <vt:lpstr>Agrandir</vt:lpstr>
      <vt:lpstr>Courier New</vt:lpstr>
      <vt:lpstr>Assistant Regular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Krishna Raj</cp:lastModifiedBy>
  <cp:revision>63</cp:revision>
  <dcterms:created xsi:type="dcterms:W3CDTF">2006-08-16T00:00:00Z</dcterms:created>
  <dcterms:modified xsi:type="dcterms:W3CDTF">2025-09-19T05:14:07Z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