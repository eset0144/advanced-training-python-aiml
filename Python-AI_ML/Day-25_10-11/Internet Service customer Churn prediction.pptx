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webextensions/webextension1.xml" ContentType="application/vnd.ms-office.webextension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7" r:id="rId6"/>
    <p:sldId id="328" r:id="rId7"/>
    <p:sldId id="327" r:id="rId8"/>
    <p:sldId id="325" r:id="rId9"/>
    <p:sldId id="324" r:id="rId10"/>
    <p:sldId id="326" r:id="rId11"/>
    <p:sldId id="297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F4115E-1AD2-41F1-9484-5A7845CAE4A3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9952AFE-33E9-4D09-8CE9-E5F214AC5472}">
      <dgm:prSet phldrT="[Text]" custT="1"/>
      <dgm:spPr/>
      <dgm:t>
        <a:bodyPr/>
        <a:lstStyle/>
        <a:p>
          <a:pPr>
            <a:buNone/>
          </a:pPr>
          <a:r>
            <a:rPr lang="en-IN" sz="1400" b="1" dirty="0"/>
            <a:t>Data Ingestion</a:t>
          </a:r>
        </a:p>
      </dgm:t>
    </dgm:pt>
    <dgm:pt modelId="{B8E969D7-266B-404C-A85C-60ADFF0DAFF5}" type="parTrans" cxnId="{38079C52-6CDF-435A-A55C-069B21ABF2C4}">
      <dgm:prSet/>
      <dgm:spPr/>
      <dgm:t>
        <a:bodyPr/>
        <a:lstStyle/>
        <a:p>
          <a:endParaRPr lang="en-IN" sz="1400" b="1"/>
        </a:p>
      </dgm:t>
    </dgm:pt>
    <dgm:pt modelId="{382D6EBB-A13C-48D2-ACE9-07BC6D6DA8C4}" type="sibTrans" cxnId="{38079C52-6CDF-435A-A55C-069B21ABF2C4}">
      <dgm:prSet/>
      <dgm:spPr/>
      <dgm:t>
        <a:bodyPr/>
        <a:lstStyle/>
        <a:p>
          <a:endParaRPr lang="en-IN" sz="1400" b="1"/>
        </a:p>
      </dgm:t>
    </dgm:pt>
    <dgm:pt modelId="{C9A9B054-A199-4788-9E19-D953527D1027}">
      <dgm:prSet phldrT="[Text]" phldr="0" custT="1"/>
      <dgm:spPr/>
      <dgm:t>
        <a:bodyPr/>
        <a:lstStyle/>
        <a:p>
          <a:r>
            <a:rPr lang="en-IN" sz="1400" b="1" dirty="0"/>
            <a:t>Feature Engineering</a:t>
          </a:r>
        </a:p>
      </dgm:t>
    </dgm:pt>
    <dgm:pt modelId="{655D995B-D8D6-40D9-9D60-8B50C40655BD}" type="parTrans" cxnId="{6B3D75DF-44DE-4B20-94C8-1B8B7FAF044E}">
      <dgm:prSet/>
      <dgm:spPr/>
      <dgm:t>
        <a:bodyPr/>
        <a:lstStyle/>
        <a:p>
          <a:endParaRPr lang="en-IN" sz="1400" b="1"/>
        </a:p>
      </dgm:t>
    </dgm:pt>
    <dgm:pt modelId="{07734C7F-098A-4219-9425-42F79B171DC4}" type="sibTrans" cxnId="{6B3D75DF-44DE-4B20-94C8-1B8B7FAF044E}">
      <dgm:prSet/>
      <dgm:spPr/>
      <dgm:t>
        <a:bodyPr/>
        <a:lstStyle/>
        <a:p>
          <a:endParaRPr lang="en-IN" sz="1400" b="1"/>
        </a:p>
      </dgm:t>
    </dgm:pt>
    <dgm:pt modelId="{6B320F55-3CEA-4328-8D7D-2EFB6EF7CCFF}">
      <dgm:prSet phldrT="[Text]" custT="1"/>
      <dgm:spPr/>
      <dgm:t>
        <a:bodyPr/>
        <a:lstStyle/>
        <a:p>
          <a:pPr>
            <a:buNone/>
          </a:pPr>
          <a:r>
            <a:rPr lang="en-IN" sz="1400" b="1" dirty="0"/>
            <a:t>Exploratory Data Analysis (EDA)</a:t>
          </a:r>
        </a:p>
      </dgm:t>
    </dgm:pt>
    <dgm:pt modelId="{70013544-A00F-4774-956B-DC357CD3443A}" type="parTrans" cxnId="{798B2421-1AEA-4B6A-BF22-49913C019C23}">
      <dgm:prSet/>
      <dgm:spPr/>
      <dgm:t>
        <a:bodyPr/>
        <a:lstStyle/>
        <a:p>
          <a:endParaRPr lang="en-IN" sz="1400" b="1"/>
        </a:p>
      </dgm:t>
    </dgm:pt>
    <dgm:pt modelId="{1FAD771D-97CF-400B-B712-B74F6DD079D0}" type="sibTrans" cxnId="{798B2421-1AEA-4B6A-BF22-49913C019C23}">
      <dgm:prSet/>
      <dgm:spPr/>
    </dgm:pt>
    <dgm:pt modelId="{E582A69D-D52F-443B-B92D-C6D311A303FB}">
      <dgm:prSet phldrT="[Text]" phldr="0" custT="1"/>
      <dgm:spPr/>
      <dgm:t>
        <a:bodyPr/>
        <a:lstStyle/>
        <a:p>
          <a:r>
            <a:rPr lang="en-IN" sz="1400" b="1" dirty="0"/>
            <a:t>Model Building- Logistic Regression</a:t>
          </a:r>
        </a:p>
      </dgm:t>
    </dgm:pt>
    <dgm:pt modelId="{4D6218C4-7E25-49A9-A8AB-ED063B1DFC64}" type="parTrans" cxnId="{A4E7993C-FE9C-41C2-B656-68B8BC8B8C27}">
      <dgm:prSet/>
      <dgm:spPr/>
      <dgm:t>
        <a:bodyPr/>
        <a:lstStyle/>
        <a:p>
          <a:endParaRPr lang="en-IN" sz="1400" b="1"/>
        </a:p>
      </dgm:t>
    </dgm:pt>
    <dgm:pt modelId="{981E2470-90AF-499C-B465-D9E3A7A226A0}" type="sibTrans" cxnId="{A4E7993C-FE9C-41C2-B656-68B8BC8B8C27}">
      <dgm:prSet/>
      <dgm:spPr/>
      <dgm:t>
        <a:bodyPr/>
        <a:lstStyle/>
        <a:p>
          <a:endParaRPr lang="en-IN" sz="1400" b="1"/>
        </a:p>
      </dgm:t>
    </dgm:pt>
    <dgm:pt modelId="{6E2C3B0F-5453-40E1-BFA7-B4712ED64C1E}">
      <dgm:prSet phldrT="[Text]" phldr="0" custT="1"/>
      <dgm:spPr/>
      <dgm:t>
        <a:bodyPr/>
        <a:lstStyle/>
        <a:p>
          <a:r>
            <a:rPr lang="en-IN" sz="1400" b="1"/>
            <a:t>Evaluation &amp; Insights</a:t>
          </a:r>
          <a:endParaRPr lang="en-IN" sz="1400" b="1" dirty="0"/>
        </a:p>
      </dgm:t>
    </dgm:pt>
    <dgm:pt modelId="{68901E9A-357F-4456-B959-D0820C2A314F}" type="parTrans" cxnId="{2F5BFF92-B2F2-46E5-9C20-D87B0CFF694B}">
      <dgm:prSet/>
      <dgm:spPr/>
      <dgm:t>
        <a:bodyPr/>
        <a:lstStyle/>
        <a:p>
          <a:endParaRPr lang="en-IN" sz="1400" b="1"/>
        </a:p>
      </dgm:t>
    </dgm:pt>
    <dgm:pt modelId="{A5AA5790-D52C-49BE-9199-06A69FF22590}" type="sibTrans" cxnId="{2F5BFF92-B2F2-46E5-9C20-D87B0CFF694B}">
      <dgm:prSet/>
      <dgm:spPr/>
      <dgm:t>
        <a:bodyPr/>
        <a:lstStyle/>
        <a:p>
          <a:endParaRPr lang="en-IN" sz="1400" b="1"/>
        </a:p>
      </dgm:t>
    </dgm:pt>
    <dgm:pt modelId="{E282EE5A-AB7A-461C-9F09-7FF3B7503541}" type="pres">
      <dgm:prSet presAssocID="{37F4115E-1AD2-41F1-9484-5A7845CAE4A3}" presName="Name0" presStyleCnt="0">
        <dgm:presLayoutVars>
          <dgm:dir/>
          <dgm:resizeHandles val="exact"/>
        </dgm:presLayoutVars>
      </dgm:prSet>
      <dgm:spPr/>
    </dgm:pt>
    <dgm:pt modelId="{5683655F-9957-439A-A7A1-A5D8C9DC8B04}" type="pres">
      <dgm:prSet presAssocID="{C9952AFE-33E9-4D09-8CE9-E5F214AC5472}" presName="composite" presStyleCnt="0"/>
      <dgm:spPr/>
    </dgm:pt>
    <dgm:pt modelId="{39FF99CB-B5A9-4B4F-865F-531A8EB44A26}" type="pres">
      <dgm:prSet presAssocID="{C9952AFE-33E9-4D09-8CE9-E5F214AC5472}" presName="bgChev" presStyleLbl="node1" presStyleIdx="0" presStyleCnt="5"/>
      <dgm:spPr/>
    </dgm:pt>
    <dgm:pt modelId="{852446BE-8B0D-4BC2-896B-67357ED9C6E4}" type="pres">
      <dgm:prSet presAssocID="{C9952AFE-33E9-4D09-8CE9-E5F214AC5472}" presName="txNode" presStyleLbl="fgAcc1" presStyleIdx="0" presStyleCnt="5">
        <dgm:presLayoutVars>
          <dgm:bulletEnabled val="1"/>
        </dgm:presLayoutVars>
      </dgm:prSet>
      <dgm:spPr/>
    </dgm:pt>
    <dgm:pt modelId="{E970FD3D-E88E-40BA-9554-D2243D8C8ED5}" type="pres">
      <dgm:prSet presAssocID="{382D6EBB-A13C-48D2-ACE9-07BC6D6DA8C4}" presName="compositeSpace" presStyleCnt="0"/>
      <dgm:spPr/>
    </dgm:pt>
    <dgm:pt modelId="{A405CC28-A9C2-423B-AC78-0225832BB9F6}" type="pres">
      <dgm:prSet presAssocID="{6B320F55-3CEA-4328-8D7D-2EFB6EF7CCFF}" presName="composite" presStyleCnt="0"/>
      <dgm:spPr/>
    </dgm:pt>
    <dgm:pt modelId="{AA497550-8639-425A-B4F7-0AE2CC86AB53}" type="pres">
      <dgm:prSet presAssocID="{6B320F55-3CEA-4328-8D7D-2EFB6EF7CCFF}" presName="bgChev" presStyleLbl="node1" presStyleIdx="1" presStyleCnt="5"/>
      <dgm:spPr/>
    </dgm:pt>
    <dgm:pt modelId="{DE0EA46E-6C8F-429F-8536-D574CF82F785}" type="pres">
      <dgm:prSet presAssocID="{6B320F55-3CEA-4328-8D7D-2EFB6EF7CCFF}" presName="txNode" presStyleLbl="fgAcc1" presStyleIdx="1" presStyleCnt="5">
        <dgm:presLayoutVars>
          <dgm:bulletEnabled val="1"/>
        </dgm:presLayoutVars>
      </dgm:prSet>
      <dgm:spPr/>
    </dgm:pt>
    <dgm:pt modelId="{EC336003-91E2-4C14-AC85-53E4F536D746}" type="pres">
      <dgm:prSet presAssocID="{1FAD771D-97CF-400B-B712-B74F6DD079D0}" presName="compositeSpace" presStyleCnt="0"/>
      <dgm:spPr/>
    </dgm:pt>
    <dgm:pt modelId="{1DBC1533-45CC-457F-8FAD-FC6902D36E6D}" type="pres">
      <dgm:prSet presAssocID="{C9A9B054-A199-4788-9E19-D953527D1027}" presName="composite" presStyleCnt="0"/>
      <dgm:spPr/>
    </dgm:pt>
    <dgm:pt modelId="{4D8647FC-1158-4B02-B57F-82D68804F741}" type="pres">
      <dgm:prSet presAssocID="{C9A9B054-A199-4788-9E19-D953527D1027}" presName="bgChev" presStyleLbl="node1" presStyleIdx="2" presStyleCnt="5"/>
      <dgm:spPr/>
    </dgm:pt>
    <dgm:pt modelId="{7BF6BFE5-D428-46D1-8CAF-355C90AAB764}" type="pres">
      <dgm:prSet presAssocID="{C9A9B054-A199-4788-9E19-D953527D1027}" presName="txNode" presStyleLbl="fgAcc1" presStyleIdx="2" presStyleCnt="5">
        <dgm:presLayoutVars>
          <dgm:bulletEnabled val="1"/>
        </dgm:presLayoutVars>
      </dgm:prSet>
      <dgm:spPr/>
    </dgm:pt>
    <dgm:pt modelId="{681DB081-4300-43CD-AF38-085C08358B6B}" type="pres">
      <dgm:prSet presAssocID="{07734C7F-098A-4219-9425-42F79B171DC4}" presName="compositeSpace" presStyleCnt="0"/>
      <dgm:spPr/>
    </dgm:pt>
    <dgm:pt modelId="{88280C14-8E80-4374-ABDD-6C9598C10504}" type="pres">
      <dgm:prSet presAssocID="{E582A69D-D52F-443B-B92D-C6D311A303FB}" presName="composite" presStyleCnt="0"/>
      <dgm:spPr/>
    </dgm:pt>
    <dgm:pt modelId="{C0E4FCAA-AE10-4BF9-9AEF-8BED5D3003B8}" type="pres">
      <dgm:prSet presAssocID="{E582A69D-D52F-443B-B92D-C6D311A303FB}" presName="bgChev" presStyleLbl="node1" presStyleIdx="3" presStyleCnt="5"/>
      <dgm:spPr/>
    </dgm:pt>
    <dgm:pt modelId="{8586D359-F710-4675-9475-D840476C44CA}" type="pres">
      <dgm:prSet presAssocID="{E582A69D-D52F-443B-B92D-C6D311A303FB}" presName="txNode" presStyleLbl="fgAcc1" presStyleIdx="3" presStyleCnt="5">
        <dgm:presLayoutVars>
          <dgm:bulletEnabled val="1"/>
        </dgm:presLayoutVars>
      </dgm:prSet>
      <dgm:spPr/>
    </dgm:pt>
    <dgm:pt modelId="{D4595FB3-559B-4709-8E06-0D6B59E7A607}" type="pres">
      <dgm:prSet presAssocID="{981E2470-90AF-499C-B465-D9E3A7A226A0}" presName="compositeSpace" presStyleCnt="0"/>
      <dgm:spPr/>
    </dgm:pt>
    <dgm:pt modelId="{2720D38F-D394-4C13-91A9-8BCEAEF91F4A}" type="pres">
      <dgm:prSet presAssocID="{6E2C3B0F-5453-40E1-BFA7-B4712ED64C1E}" presName="composite" presStyleCnt="0"/>
      <dgm:spPr/>
    </dgm:pt>
    <dgm:pt modelId="{535C078E-25C5-46F9-BF66-735830191B56}" type="pres">
      <dgm:prSet presAssocID="{6E2C3B0F-5453-40E1-BFA7-B4712ED64C1E}" presName="bgChev" presStyleLbl="node1" presStyleIdx="4" presStyleCnt="5"/>
      <dgm:spPr/>
    </dgm:pt>
    <dgm:pt modelId="{52AEC9DE-E38C-4BA8-8B76-CBD95B7B6514}" type="pres">
      <dgm:prSet presAssocID="{6E2C3B0F-5453-40E1-BFA7-B4712ED64C1E}" presName="txNode" presStyleLbl="fgAcc1" presStyleIdx="4" presStyleCnt="5">
        <dgm:presLayoutVars>
          <dgm:bulletEnabled val="1"/>
        </dgm:presLayoutVars>
      </dgm:prSet>
      <dgm:spPr/>
    </dgm:pt>
  </dgm:ptLst>
  <dgm:cxnLst>
    <dgm:cxn modelId="{798B2421-1AEA-4B6A-BF22-49913C019C23}" srcId="{37F4115E-1AD2-41F1-9484-5A7845CAE4A3}" destId="{6B320F55-3CEA-4328-8D7D-2EFB6EF7CCFF}" srcOrd="1" destOrd="0" parTransId="{70013544-A00F-4774-956B-DC357CD3443A}" sibTransId="{1FAD771D-97CF-400B-B712-B74F6DD079D0}"/>
    <dgm:cxn modelId="{EE50022B-07A0-42B5-AD51-716B91209350}" type="presOf" srcId="{37F4115E-1AD2-41F1-9484-5A7845CAE4A3}" destId="{E282EE5A-AB7A-461C-9F09-7FF3B7503541}" srcOrd="0" destOrd="0" presId="urn:microsoft.com/office/officeart/2005/8/layout/chevronAccent+Icon"/>
    <dgm:cxn modelId="{B46E723C-65FA-4C1A-8649-D9854E2A03D1}" type="presOf" srcId="{E582A69D-D52F-443B-B92D-C6D311A303FB}" destId="{8586D359-F710-4675-9475-D840476C44CA}" srcOrd="0" destOrd="0" presId="urn:microsoft.com/office/officeart/2005/8/layout/chevronAccent+Icon"/>
    <dgm:cxn modelId="{A4E7993C-FE9C-41C2-B656-68B8BC8B8C27}" srcId="{37F4115E-1AD2-41F1-9484-5A7845CAE4A3}" destId="{E582A69D-D52F-443B-B92D-C6D311A303FB}" srcOrd="3" destOrd="0" parTransId="{4D6218C4-7E25-49A9-A8AB-ED063B1DFC64}" sibTransId="{981E2470-90AF-499C-B465-D9E3A7A226A0}"/>
    <dgm:cxn modelId="{C7B3A442-9CA3-4A5C-89E9-5AE5CC3E1BB1}" type="presOf" srcId="{C9952AFE-33E9-4D09-8CE9-E5F214AC5472}" destId="{852446BE-8B0D-4BC2-896B-67357ED9C6E4}" srcOrd="0" destOrd="0" presId="urn:microsoft.com/office/officeart/2005/8/layout/chevronAccent+Icon"/>
    <dgm:cxn modelId="{B843784E-9D2A-4B96-A282-BD8EA0201C7C}" type="presOf" srcId="{C9A9B054-A199-4788-9E19-D953527D1027}" destId="{7BF6BFE5-D428-46D1-8CAF-355C90AAB764}" srcOrd="0" destOrd="0" presId="urn:microsoft.com/office/officeart/2005/8/layout/chevronAccent+Icon"/>
    <dgm:cxn modelId="{38079C52-6CDF-435A-A55C-069B21ABF2C4}" srcId="{37F4115E-1AD2-41F1-9484-5A7845CAE4A3}" destId="{C9952AFE-33E9-4D09-8CE9-E5F214AC5472}" srcOrd="0" destOrd="0" parTransId="{B8E969D7-266B-404C-A85C-60ADFF0DAFF5}" sibTransId="{382D6EBB-A13C-48D2-ACE9-07BC6D6DA8C4}"/>
    <dgm:cxn modelId="{729DF591-EEBD-4FE3-B570-C8EDB2147206}" type="presOf" srcId="{6E2C3B0F-5453-40E1-BFA7-B4712ED64C1E}" destId="{52AEC9DE-E38C-4BA8-8B76-CBD95B7B6514}" srcOrd="0" destOrd="0" presId="urn:microsoft.com/office/officeart/2005/8/layout/chevronAccent+Icon"/>
    <dgm:cxn modelId="{2F5BFF92-B2F2-46E5-9C20-D87B0CFF694B}" srcId="{37F4115E-1AD2-41F1-9484-5A7845CAE4A3}" destId="{6E2C3B0F-5453-40E1-BFA7-B4712ED64C1E}" srcOrd="4" destOrd="0" parTransId="{68901E9A-357F-4456-B959-D0820C2A314F}" sibTransId="{A5AA5790-D52C-49BE-9199-06A69FF22590}"/>
    <dgm:cxn modelId="{6B3D75DF-44DE-4B20-94C8-1B8B7FAF044E}" srcId="{37F4115E-1AD2-41F1-9484-5A7845CAE4A3}" destId="{C9A9B054-A199-4788-9E19-D953527D1027}" srcOrd="2" destOrd="0" parTransId="{655D995B-D8D6-40D9-9D60-8B50C40655BD}" sibTransId="{07734C7F-098A-4219-9425-42F79B171DC4}"/>
    <dgm:cxn modelId="{0386E5F1-A587-4D48-8704-F7F5DFF1AAB4}" type="presOf" srcId="{6B320F55-3CEA-4328-8D7D-2EFB6EF7CCFF}" destId="{DE0EA46E-6C8F-429F-8536-D574CF82F785}" srcOrd="0" destOrd="0" presId="urn:microsoft.com/office/officeart/2005/8/layout/chevronAccent+Icon"/>
    <dgm:cxn modelId="{89EEB629-5343-4AEC-824B-9D3EDC1E1048}" type="presParOf" srcId="{E282EE5A-AB7A-461C-9F09-7FF3B7503541}" destId="{5683655F-9957-439A-A7A1-A5D8C9DC8B04}" srcOrd="0" destOrd="0" presId="urn:microsoft.com/office/officeart/2005/8/layout/chevronAccent+Icon"/>
    <dgm:cxn modelId="{79381D6B-96A7-4F76-A00F-FDF4BF551E2C}" type="presParOf" srcId="{5683655F-9957-439A-A7A1-A5D8C9DC8B04}" destId="{39FF99CB-B5A9-4B4F-865F-531A8EB44A26}" srcOrd="0" destOrd="0" presId="urn:microsoft.com/office/officeart/2005/8/layout/chevronAccent+Icon"/>
    <dgm:cxn modelId="{3439638A-F80C-4A72-B148-0311A4A35C1B}" type="presParOf" srcId="{5683655F-9957-439A-A7A1-A5D8C9DC8B04}" destId="{852446BE-8B0D-4BC2-896B-67357ED9C6E4}" srcOrd="1" destOrd="0" presId="urn:microsoft.com/office/officeart/2005/8/layout/chevronAccent+Icon"/>
    <dgm:cxn modelId="{F3755C37-1BE4-4322-A5DF-8FEF41B454E8}" type="presParOf" srcId="{E282EE5A-AB7A-461C-9F09-7FF3B7503541}" destId="{E970FD3D-E88E-40BA-9554-D2243D8C8ED5}" srcOrd="1" destOrd="0" presId="urn:microsoft.com/office/officeart/2005/8/layout/chevronAccent+Icon"/>
    <dgm:cxn modelId="{B33FADCF-B843-499E-AD0E-05046563DA41}" type="presParOf" srcId="{E282EE5A-AB7A-461C-9F09-7FF3B7503541}" destId="{A405CC28-A9C2-423B-AC78-0225832BB9F6}" srcOrd="2" destOrd="0" presId="urn:microsoft.com/office/officeart/2005/8/layout/chevronAccent+Icon"/>
    <dgm:cxn modelId="{34D76F28-3B32-4D79-BC63-60E2796B525B}" type="presParOf" srcId="{A405CC28-A9C2-423B-AC78-0225832BB9F6}" destId="{AA497550-8639-425A-B4F7-0AE2CC86AB53}" srcOrd="0" destOrd="0" presId="urn:microsoft.com/office/officeart/2005/8/layout/chevronAccent+Icon"/>
    <dgm:cxn modelId="{9C9957DC-8071-437D-9213-DE55FD8EBDCE}" type="presParOf" srcId="{A405CC28-A9C2-423B-AC78-0225832BB9F6}" destId="{DE0EA46E-6C8F-429F-8536-D574CF82F785}" srcOrd="1" destOrd="0" presId="urn:microsoft.com/office/officeart/2005/8/layout/chevronAccent+Icon"/>
    <dgm:cxn modelId="{CA491DFB-FC47-41A2-8959-871E3B190286}" type="presParOf" srcId="{E282EE5A-AB7A-461C-9F09-7FF3B7503541}" destId="{EC336003-91E2-4C14-AC85-53E4F536D746}" srcOrd="3" destOrd="0" presId="urn:microsoft.com/office/officeart/2005/8/layout/chevronAccent+Icon"/>
    <dgm:cxn modelId="{F5EAEE66-9042-4CC7-AA7B-24C6A40E0CD7}" type="presParOf" srcId="{E282EE5A-AB7A-461C-9F09-7FF3B7503541}" destId="{1DBC1533-45CC-457F-8FAD-FC6902D36E6D}" srcOrd="4" destOrd="0" presId="urn:microsoft.com/office/officeart/2005/8/layout/chevronAccent+Icon"/>
    <dgm:cxn modelId="{4CBB7FBF-EA8C-4288-9C48-568DD285D7F2}" type="presParOf" srcId="{1DBC1533-45CC-457F-8FAD-FC6902D36E6D}" destId="{4D8647FC-1158-4B02-B57F-82D68804F741}" srcOrd="0" destOrd="0" presId="urn:microsoft.com/office/officeart/2005/8/layout/chevronAccent+Icon"/>
    <dgm:cxn modelId="{67BC00C1-0B3B-4B91-9705-E5ED23AAEF83}" type="presParOf" srcId="{1DBC1533-45CC-457F-8FAD-FC6902D36E6D}" destId="{7BF6BFE5-D428-46D1-8CAF-355C90AAB764}" srcOrd="1" destOrd="0" presId="urn:microsoft.com/office/officeart/2005/8/layout/chevronAccent+Icon"/>
    <dgm:cxn modelId="{B2978BDF-EA9B-4AF1-9DF4-EB6536450F63}" type="presParOf" srcId="{E282EE5A-AB7A-461C-9F09-7FF3B7503541}" destId="{681DB081-4300-43CD-AF38-085C08358B6B}" srcOrd="5" destOrd="0" presId="urn:microsoft.com/office/officeart/2005/8/layout/chevronAccent+Icon"/>
    <dgm:cxn modelId="{416B370C-7161-473B-9459-46DA6C61DC83}" type="presParOf" srcId="{E282EE5A-AB7A-461C-9F09-7FF3B7503541}" destId="{88280C14-8E80-4374-ABDD-6C9598C10504}" srcOrd="6" destOrd="0" presId="urn:microsoft.com/office/officeart/2005/8/layout/chevronAccent+Icon"/>
    <dgm:cxn modelId="{B9F72275-156A-445D-A88D-89307650491E}" type="presParOf" srcId="{88280C14-8E80-4374-ABDD-6C9598C10504}" destId="{C0E4FCAA-AE10-4BF9-9AEF-8BED5D3003B8}" srcOrd="0" destOrd="0" presId="urn:microsoft.com/office/officeart/2005/8/layout/chevronAccent+Icon"/>
    <dgm:cxn modelId="{07FAD3FA-46F1-4141-BCCC-1A489A8D931A}" type="presParOf" srcId="{88280C14-8E80-4374-ABDD-6C9598C10504}" destId="{8586D359-F710-4675-9475-D840476C44CA}" srcOrd="1" destOrd="0" presId="urn:microsoft.com/office/officeart/2005/8/layout/chevronAccent+Icon"/>
    <dgm:cxn modelId="{D0E2556A-FA9C-4FC5-BEB1-9DE5A760ED2D}" type="presParOf" srcId="{E282EE5A-AB7A-461C-9F09-7FF3B7503541}" destId="{D4595FB3-559B-4709-8E06-0D6B59E7A607}" srcOrd="7" destOrd="0" presId="urn:microsoft.com/office/officeart/2005/8/layout/chevronAccent+Icon"/>
    <dgm:cxn modelId="{457BBE69-CBFD-4DDD-9DBC-F1DD8EBC87D1}" type="presParOf" srcId="{E282EE5A-AB7A-461C-9F09-7FF3B7503541}" destId="{2720D38F-D394-4C13-91A9-8BCEAEF91F4A}" srcOrd="8" destOrd="0" presId="urn:microsoft.com/office/officeart/2005/8/layout/chevronAccent+Icon"/>
    <dgm:cxn modelId="{EA784582-D9E5-4925-81B7-8422267100D8}" type="presParOf" srcId="{2720D38F-D394-4C13-91A9-8BCEAEF91F4A}" destId="{535C078E-25C5-46F9-BF66-735830191B56}" srcOrd="0" destOrd="0" presId="urn:microsoft.com/office/officeart/2005/8/layout/chevronAccent+Icon"/>
    <dgm:cxn modelId="{8912FB2A-B20C-4575-A2B8-38797C6EF161}" type="presParOf" srcId="{2720D38F-D394-4C13-91A9-8BCEAEF91F4A}" destId="{52AEC9DE-E38C-4BA8-8B76-CBD95B7B6514}" srcOrd="1" destOrd="0" presId="urn:microsoft.com/office/officeart/2005/8/layout/chevronAccent+Icon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FF99CB-B5A9-4B4F-865F-531A8EB44A26}">
      <dsp:nvSpPr>
        <dsp:cNvPr id="0" name=""/>
        <dsp:cNvSpPr/>
      </dsp:nvSpPr>
      <dsp:spPr>
        <a:xfrm>
          <a:off x="1668" y="675332"/>
          <a:ext cx="1867195" cy="720737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2446BE-8B0D-4BC2-896B-67357ED9C6E4}">
      <dsp:nvSpPr>
        <dsp:cNvPr id="0" name=""/>
        <dsp:cNvSpPr/>
      </dsp:nvSpPr>
      <dsp:spPr>
        <a:xfrm>
          <a:off x="499586" y="855516"/>
          <a:ext cx="1576742" cy="7207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Data Ingestion</a:t>
          </a:r>
        </a:p>
      </dsp:txBody>
      <dsp:txXfrm>
        <a:off x="520696" y="876626"/>
        <a:ext cx="1534522" cy="678517"/>
      </dsp:txXfrm>
    </dsp:sp>
    <dsp:sp modelId="{AA497550-8639-425A-B4F7-0AE2CC86AB53}">
      <dsp:nvSpPr>
        <dsp:cNvPr id="0" name=""/>
        <dsp:cNvSpPr/>
      </dsp:nvSpPr>
      <dsp:spPr>
        <a:xfrm>
          <a:off x="2134420" y="675332"/>
          <a:ext cx="1867195" cy="720737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EA46E-6C8F-429F-8536-D574CF82F785}">
      <dsp:nvSpPr>
        <dsp:cNvPr id="0" name=""/>
        <dsp:cNvSpPr/>
      </dsp:nvSpPr>
      <dsp:spPr>
        <a:xfrm>
          <a:off x="2632338" y="855516"/>
          <a:ext cx="1576742" cy="7207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Exploratory Data Analysis (EDA)</a:t>
          </a:r>
        </a:p>
      </dsp:txBody>
      <dsp:txXfrm>
        <a:off x="2653448" y="876626"/>
        <a:ext cx="1534522" cy="678517"/>
      </dsp:txXfrm>
    </dsp:sp>
    <dsp:sp modelId="{4D8647FC-1158-4B02-B57F-82D68804F741}">
      <dsp:nvSpPr>
        <dsp:cNvPr id="0" name=""/>
        <dsp:cNvSpPr/>
      </dsp:nvSpPr>
      <dsp:spPr>
        <a:xfrm>
          <a:off x="4267172" y="675332"/>
          <a:ext cx="1867195" cy="720737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6BFE5-D428-46D1-8CAF-355C90AAB764}">
      <dsp:nvSpPr>
        <dsp:cNvPr id="0" name=""/>
        <dsp:cNvSpPr/>
      </dsp:nvSpPr>
      <dsp:spPr>
        <a:xfrm>
          <a:off x="4765090" y="855516"/>
          <a:ext cx="1576742" cy="7207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Feature Engineering</a:t>
          </a:r>
        </a:p>
      </dsp:txBody>
      <dsp:txXfrm>
        <a:off x="4786200" y="876626"/>
        <a:ext cx="1534522" cy="678517"/>
      </dsp:txXfrm>
    </dsp:sp>
    <dsp:sp modelId="{C0E4FCAA-AE10-4BF9-9AEF-8BED5D3003B8}">
      <dsp:nvSpPr>
        <dsp:cNvPr id="0" name=""/>
        <dsp:cNvSpPr/>
      </dsp:nvSpPr>
      <dsp:spPr>
        <a:xfrm>
          <a:off x="6399924" y="675332"/>
          <a:ext cx="1867195" cy="720737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6D359-F710-4675-9475-D840476C44CA}">
      <dsp:nvSpPr>
        <dsp:cNvPr id="0" name=""/>
        <dsp:cNvSpPr/>
      </dsp:nvSpPr>
      <dsp:spPr>
        <a:xfrm>
          <a:off x="6897843" y="855516"/>
          <a:ext cx="1576742" cy="7207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Model Building- Logistic Regression</a:t>
          </a:r>
        </a:p>
      </dsp:txBody>
      <dsp:txXfrm>
        <a:off x="6918953" y="876626"/>
        <a:ext cx="1534522" cy="678517"/>
      </dsp:txXfrm>
    </dsp:sp>
    <dsp:sp modelId="{535C078E-25C5-46F9-BF66-735830191B56}">
      <dsp:nvSpPr>
        <dsp:cNvPr id="0" name=""/>
        <dsp:cNvSpPr/>
      </dsp:nvSpPr>
      <dsp:spPr>
        <a:xfrm>
          <a:off x="8532676" y="675332"/>
          <a:ext cx="1867195" cy="720737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EC9DE-E38C-4BA8-8B76-CBD95B7B6514}">
      <dsp:nvSpPr>
        <dsp:cNvPr id="0" name=""/>
        <dsp:cNvSpPr/>
      </dsp:nvSpPr>
      <dsp:spPr>
        <a:xfrm>
          <a:off x="9030595" y="855516"/>
          <a:ext cx="1576742" cy="7207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Evaluation &amp; Insights</a:t>
          </a:r>
          <a:endParaRPr lang="en-IN" sz="1400" b="1" kern="1200" dirty="0"/>
        </a:p>
      </dsp:txBody>
      <dsp:txXfrm>
        <a:off x="9051705" y="876626"/>
        <a:ext cx="1534522" cy="6785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5CC3-D489-7D63-8835-A28824175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0BC45-E5BF-2448-B5F6-70C835E18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CEB8C-0EFA-B51A-C60A-21052DFE8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304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73A8F-0FD9-7CCB-7C30-6482DA861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7E164-4631-741F-B80F-A991E3D44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E0EED-933D-D020-D120-9CE56FDF3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225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Customer Churn Prediction for Internet Service Providers</a:t>
            </a: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A19FE2-BBFF-1C46-0EC1-9157B5ABD10C}"/>
              </a:ext>
            </a:extLst>
          </p:cNvPr>
          <p:cNvSpPr txBox="1"/>
          <p:nvPr/>
        </p:nvSpPr>
        <p:spPr>
          <a:xfrm>
            <a:off x="8819535" y="5722373"/>
            <a:ext cx="1662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- Uday Vadecha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390" y="-33223"/>
            <a:ext cx="9879437" cy="980844"/>
          </a:xfrm>
        </p:spPr>
        <p:txBody>
          <a:bodyPr anchor="b">
            <a:normAutofit/>
          </a:bodyPr>
          <a:lstStyle/>
          <a:p>
            <a:r>
              <a:rPr lang="en-US" dirty="0"/>
              <a:t>Data analysis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DAB402BE-F17B-E25F-857A-210389E5C1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80A634-5600-8734-BB7E-116498DCD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629183"/>
              </p:ext>
            </p:extLst>
          </p:nvPr>
        </p:nvGraphicFramePr>
        <p:xfrm>
          <a:off x="639619" y="4181294"/>
          <a:ext cx="6836432" cy="2676706"/>
        </p:xfrm>
        <a:graphic>
          <a:graphicData uri="http://schemas.openxmlformats.org/drawingml/2006/table">
            <a:tbl>
              <a:tblPr firstRow="1" bandRow="1"/>
              <a:tblGrid>
                <a:gridCol w="1455439">
                  <a:extLst>
                    <a:ext uri="{9D8B030D-6E8A-4147-A177-3AD203B41FA5}">
                      <a16:colId xmlns:a16="http://schemas.microsoft.com/office/drawing/2014/main" val="420738918"/>
                    </a:ext>
                  </a:extLst>
                </a:gridCol>
                <a:gridCol w="526179">
                  <a:extLst>
                    <a:ext uri="{9D8B030D-6E8A-4147-A177-3AD203B41FA5}">
                      <a16:colId xmlns:a16="http://schemas.microsoft.com/office/drawing/2014/main" val="994929439"/>
                    </a:ext>
                  </a:extLst>
                </a:gridCol>
                <a:gridCol w="656440">
                  <a:extLst>
                    <a:ext uri="{9D8B030D-6E8A-4147-A177-3AD203B41FA5}">
                      <a16:colId xmlns:a16="http://schemas.microsoft.com/office/drawing/2014/main" val="1237560554"/>
                    </a:ext>
                  </a:extLst>
                </a:gridCol>
                <a:gridCol w="747252">
                  <a:extLst>
                    <a:ext uri="{9D8B030D-6E8A-4147-A177-3AD203B41FA5}">
                      <a16:colId xmlns:a16="http://schemas.microsoft.com/office/drawing/2014/main" val="1592516061"/>
                    </a:ext>
                  </a:extLst>
                </a:gridCol>
                <a:gridCol w="760626">
                  <a:extLst>
                    <a:ext uri="{9D8B030D-6E8A-4147-A177-3AD203B41FA5}">
                      <a16:colId xmlns:a16="http://schemas.microsoft.com/office/drawing/2014/main" val="3690266877"/>
                    </a:ext>
                  </a:extLst>
                </a:gridCol>
                <a:gridCol w="643335">
                  <a:extLst>
                    <a:ext uri="{9D8B030D-6E8A-4147-A177-3AD203B41FA5}">
                      <a16:colId xmlns:a16="http://schemas.microsoft.com/office/drawing/2014/main" val="1865408837"/>
                    </a:ext>
                  </a:extLst>
                </a:gridCol>
                <a:gridCol w="643335">
                  <a:extLst>
                    <a:ext uri="{9D8B030D-6E8A-4147-A177-3AD203B41FA5}">
                      <a16:colId xmlns:a16="http://schemas.microsoft.com/office/drawing/2014/main" val="1498488918"/>
                    </a:ext>
                  </a:extLst>
                </a:gridCol>
                <a:gridCol w="701913">
                  <a:extLst>
                    <a:ext uri="{9D8B030D-6E8A-4147-A177-3AD203B41FA5}">
                      <a16:colId xmlns:a16="http://schemas.microsoft.com/office/drawing/2014/main" val="3858586192"/>
                    </a:ext>
                  </a:extLst>
                </a:gridCol>
                <a:gridCol w="701913">
                  <a:extLst>
                    <a:ext uri="{9D8B030D-6E8A-4147-A177-3AD203B41FA5}">
                      <a16:colId xmlns:a16="http://schemas.microsoft.com/office/drawing/2014/main" val="592291853"/>
                    </a:ext>
                  </a:extLst>
                </a:gridCol>
              </a:tblGrid>
              <a:tr h="36385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b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25%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50%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75%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256880"/>
                  </a:ext>
                </a:extLst>
              </a:tr>
              <a:tr h="1968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is_tv_subscriber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72274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932806"/>
                  </a:ext>
                </a:extLst>
              </a:tr>
              <a:tr h="36385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is_movie_package_subscriber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72274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168423"/>
                  </a:ext>
                </a:extLst>
              </a:tr>
              <a:tr h="1968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subscription_age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72274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-0.02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1.98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12.80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610848"/>
                  </a:ext>
                </a:extLst>
              </a:tr>
              <a:tr h="1968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bill_avg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72274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18.94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13.22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406.00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121197"/>
                  </a:ext>
                </a:extLst>
              </a:tr>
              <a:tr h="1968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reamining_contract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50702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1.31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2.92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268517"/>
                  </a:ext>
                </a:extLst>
              </a:tr>
              <a:tr h="1968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service_failure_count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72274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478333"/>
                  </a:ext>
                </a:extLst>
              </a:tr>
              <a:tr h="1968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download_avg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71893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43.69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63.41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6.70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27.80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60.50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4415.20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626952"/>
                  </a:ext>
                </a:extLst>
              </a:tr>
              <a:tr h="1968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upload_avg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71893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9.82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453.30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308970"/>
                  </a:ext>
                </a:extLst>
              </a:tr>
              <a:tr h="1968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download_over_limit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72274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876421"/>
                  </a:ext>
                </a:extLst>
              </a:tr>
              <a:tr h="1968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churn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72274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</a:p>
                  </a:txBody>
                  <a:tcPr marL="27207" marR="27207" marT="13603" marB="136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14648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760E5E-8652-86A3-5390-48143FE3E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622080"/>
              </p:ext>
            </p:extLst>
          </p:nvPr>
        </p:nvGraphicFramePr>
        <p:xfrm>
          <a:off x="745090" y="1816667"/>
          <a:ext cx="10542342" cy="1645920"/>
        </p:xfrm>
        <a:graphic>
          <a:graphicData uri="http://schemas.openxmlformats.org/drawingml/2006/table">
            <a:tbl>
              <a:tblPr/>
              <a:tblGrid>
                <a:gridCol w="406832">
                  <a:extLst>
                    <a:ext uri="{9D8B030D-6E8A-4147-A177-3AD203B41FA5}">
                      <a16:colId xmlns:a16="http://schemas.microsoft.com/office/drawing/2014/main" val="3864135194"/>
                    </a:ext>
                  </a:extLst>
                </a:gridCol>
                <a:gridCol w="1221001">
                  <a:extLst>
                    <a:ext uri="{9D8B030D-6E8A-4147-A177-3AD203B41FA5}">
                      <a16:colId xmlns:a16="http://schemas.microsoft.com/office/drawing/2014/main" val="4073334317"/>
                    </a:ext>
                  </a:extLst>
                </a:gridCol>
                <a:gridCol w="1140565">
                  <a:extLst>
                    <a:ext uri="{9D8B030D-6E8A-4147-A177-3AD203B41FA5}">
                      <a16:colId xmlns:a16="http://schemas.microsoft.com/office/drawing/2014/main" val="1470393989"/>
                    </a:ext>
                  </a:extLst>
                </a:gridCol>
                <a:gridCol w="1009351">
                  <a:extLst>
                    <a:ext uri="{9D8B030D-6E8A-4147-A177-3AD203B41FA5}">
                      <a16:colId xmlns:a16="http://schemas.microsoft.com/office/drawing/2014/main" val="3331734681"/>
                    </a:ext>
                  </a:extLst>
                </a:gridCol>
                <a:gridCol w="788581">
                  <a:extLst>
                    <a:ext uri="{9D8B030D-6E8A-4147-A177-3AD203B41FA5}">
                      <a16:colId xmlns:a16="http://schemas.microsoft.com/office/drawing/2014/main" val="3652946381"/>
                    </a:ext>
                  </a:extLst>
                </a:gridCol>
                <a:gridCol w="913266">
                  <a:extLst>
                    <a:ext uri="{9D8B030D-6E8A-4147-A177-3AD203B41FA5}">
                      <a16:colId xmlns:a16="http://schemas.microsoft.com/office/drawing/2014/main" val="3185056558"/>
                    </a:ext>
                  </a:extLst>
                </a:gridCol>
                <a:gridCol w="1120011">
                  <a:extLst>
                    <a:ext uri="{9D8B030D-6E8A-4147-A177-3AD203B41FA5}">
                      <a16:colId xmlns:a16="http://schemas.microsoft.com/office/drawing/2014/main" val="301071963"/>
                    </a:ext>
                  </a:extLst>
                </a:gridCol>
                <a:gridCol w="904567">
                  <a:extLst>
                    <a:ext uri="{9D8B030D-6E8A-4147-A177-3AD203B41FA5}">
                      <a16:colId xmlns:a16="http://schemas.microsoft.com/office/drawing/2014/main" val="3030892125"/>
                    </a:ext>
                  </a:extLst>
                </a:gridCol>
                <a:gridCol w="894736">
                  <a:extLst>
                    <a:ext uri="{9D8B030D-6E8A-4147-A177-3AD203B41FA5}">
                      <a16:colId xmlns:a16="http://schemas.microsoft.com/office/drawing/2014/main" val="2636381200"/>
                    </a:ext>
                  </a:extLst>
                </a:gridCol>
                <a:gridCol w="1140542">
                  <a:extLst>
                    <a:ext uri="{9D8B030D-6E8A-4147-A177-3AD203B41FA5}">
                      <a16:colId xmlns:a16="http://schemas.microsoft.com/office/drawing/2014/main" val="2122307041"/>
                    </a:ext>
                  </a:extLst>
                </a:gridCol>
                <a:gridCol w="1002890">
                  <a:extLst>
                    <a:ext uri="{9D8B030D-6E8A-4147-A177-3AD203B41FA5}">
                      <a16:colId xmlns:a16="http://schemas.microsoft.com/office/drawing/2014/main" val="42279815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b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is_tv_subscriber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is_movie_package_subscriber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subscription_age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bill_avg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remaining_contract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service_failure_count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download_avg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upload_avg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download_over_limit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churn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2411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11.95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0.14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8.4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2.3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588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8.22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876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8.91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13.7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400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6.87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544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6.39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510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8BE2196-C977-DEA9-B60E-3C6A3AA3F5AE}"/>
              </a:ext>
            </a:extLst>
          </p:cNvPr>
          <p:cNvSpPr txBox="1"/>
          <p:nvPr/>
        </p:nvSpPr>
        <p:spPr>
          <a:xfrm>
            <a:off x="1426200" y="1234444"/>
            <a:ext cx="1390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Table 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CCB447-6BFD-7017-AD26-319F23C77D42}"/>
              </a:ext>
            </a:extLst>
          </p:cNvPr>
          <p:cNvSpPr txBox="1"/>
          <p:nvPr/>
        </p:nvSpPr>
        <p:spPr>
          <a:xfrm>
            <a:off x="1320048" y="370441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Statistical Analysis of Data 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818635-19CD-3EF1-9456-D6E2DDEBC18B}"/>
              </a:ext>
            </a:extLst>
          </p:cNvPr>
          <p:cNvSpPr txBox="1"/>
          <p:nvPr/>
        </p:nvSpPr>
        <p:spPr>
          <a:xfrm>
            <a:off x="7709431" y="4181294"/>
            <a:ext cx="43744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72,274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Features: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(including target variable churn)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customer behavior to predict churn and identify retention drivers.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CA874-07E6-E9EC-841C-514416580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91595"/>
            <a:ext cx="6583680" cy="1531357"/>
          </a:xfrm>
        </p:spPr>
        <p:txBody>
          <a:bodyPr/>
          <a:lstStyle/>
          <a:p>
            <a:r>
              <a:rPr lang="en-IN" dirty="0"/>
              <a:t>Model architecture: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1771A38-C490-E385-0C64-36DF95A7AC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6644867"/>
              </p:ext>
            </p:extLst>
          </p:nvPr>
        </p:nvGraphicFramePr>
        <p:xfrm>
          <a:off x="914400" y="2261419"/>
          <a:ext cx="10609006" cy="2251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9B137-9442-1AA2-E0B2-C14652CCE4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91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AC697-C83D-0CBF-2EB3-F698D26A3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BF29E-55AD-0BC5-80EA-9D28A9C3E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721B-EF3A-1BDA-4BF5-4EFA52536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" descr="Add-in content for Microsoft Power BI.">
                <a:extLst>
                  <a:ext uri="{FF2B5EF4-FFF2-40B4-BE49-F238E27FC236}">
                    <a16:creationId xmlns:a16="http://schemas.microsoft.com/office/drawing/2014/main" id="{07D7D180-C981-E97C-E426-1FFA977C2A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7417878"/>
                  </p:ext>
                </p:extLst>
              </p:nvPr>
            </p:nvGraphicFramePr>
            <p:xfrm>
              <a:off x="324465" y="127819"/>
              <a:ext cx="11582400" cy="660727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Add-in" descr="Add-in content for Microsoft Power BI.">
                <a:extLst>
                  <a:ext uri="{FF2B5EF4-FFF2-40B4-BE49-F238E27FC236}">
                    <a16:creationId xmlns:a16="http://schemas.microsoft.com/office/drawing/2014/main" id="{07D7D180-C981-E97C-E426-1FFA977C2A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4465" y="127819"/>
                <a:ext cx="11582400" cy="660727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2647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3E29-3ED9-5FDA-2ED7-C0B37D94E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D70DB-0CB0-2581-8D1B-45C440BE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83680" cy="1531357"/>
          </a:xfrm>
        </p:spPr>
        <p:txBody>
          <a:bodyPr/>
          <a:lstStyle/>
          <a:p>
            <a:r>
              <a:rPr lang="en-US" dirty="0"/>
              <a:t>Model evaluation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C7262-E69F-8494-73B3-6FFCBB1252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D2C8FE-3514-56C4-EA85-8F513C4A9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99" y="1750132"/>
            <a:ext cx="4305300" cy="37433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00403F-0054-8F3E-37AD-CDAFC0C98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831" y="457199"/>
            <a:ext cx="5105400" cy="44767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01847B-1133-F9B0-A450-1371DA8FE385}"/>
              </a:ext>
            </a:extLst>
          </p:cNvPr>
          <p:cNvSpPr txBox="1"/>
          <p:nvPr/>
        </p:nvSpPr>
        <p:spPr>
          <a:xfrm>
            <a:off x="5786831" y="5165607"/>
            <a:ext cx="22166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Accuracy: 0.88</a:t>
            </a:r>
          </a:p>
          <a:p>
            <a:r>
              <a:rPr lang="en-IN" dirty="0"/>
              <a:t>Precision: 0.87 </a:t>
            </a:r>
          </a:p>
          <a:p>
            <a:r>
              <a:rPr lang="en-IN" dirty="0"/>
              <a:t>Recall: 0.92 </a:t>
            </a:r>
          </a:p>
          <a:p>
            <a:r>
              <a:rPr lang="en-IN" dirty="0"/>
              <a:t>F1 Score: 0.89 </a:t>
            </a:r>
          </a:p>
          <a:p>
            <a:r>
              <a:rPr lang="en-IN" dirty="0"/>
              <a:t>ROC AUC: 0.94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033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0BBBB-E773-F1E5-AC25-8A65C7AB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86CAF-B045-1E2E-5EDD-CA2A026DB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83680" cy="1531357"/>
          </a:xfrm>
        </p:spPr>
        <p:txBody>
          <a:bodyPr/>
          <a:lstStyle/>
          <a:p>
            <a:r>
              <a:rPr lang="en-US" dirty="0"/>
              <a:t>Model evaluation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83FE3-B61B-A0F2-3671-8C1DD480D8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A700EB9-0015-D8FA-E64E-51E86D29C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65727"/>
              </p:ext>
            </p:extLst>
          </p:nvPr>
        </p:nvGraphicFramePr>
        <p:xfrm>
          <a:off x="806244" y="1962722"/>
          <a:ext cx="4739149" cy="2932556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538198">
                  <a:extLst>
                    <a:ext uri="{9D8B030D-6E8A-4147-A177-3AD203B41FA5}">
                      <a16:colId xmlns:a16="http://schemas.microsoft.com/office/drawing/2014/main" val="248184191"/>
                    </a:ext>
                  </a:extLst>
                </a:gridCol>
                <a:gridCol w="2200951">
                  <a:extLst>
                    <a:ext uri="{9D8B030D-6E8A-4147-A177-3AD203B41FA5}">
                      <a16:colId xmlns:a16="http://schemas.microsoft.com/office/drawing/2014/main" val="1251491796"/>
                    </a:ext>
                  </a:extLst>
                </a:gridCol>
              </a:tblGrid>
              <a:tr h="2665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Feature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Importance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48290301"/>
                  </a:ext>
                </a:extLst>
              </a:tr>
              <a:tr h="2665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bill_avg_per_gb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21.47724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6711216"/>
                  </a:ext>
                </a:extLst>
              </a:tr>
              <a:tr h="2665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remaining_contract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-15.0101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53574626"/>
                  </a:ext>
                </a:extLst>
              </a:tr>
              <a:tr h="2665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download_avg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-8.36535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49101557"/>
                  </a:ext>
                </a:extLst>
              </a:tr>
              <a:tr h="2665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avg_usage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-8.29051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01913372"/>
                  </a:ext>
                </a:extLst>
              </a:tr>
              <a:tr h="2665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bill_avg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-3.39188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10473351"/>
                  </a:ext>
                </a:extLst>
              </a:tr>
              <a:tr h="2665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subscription_age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-3.22006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73353729"/>
                  </a:ext>
                </a:extLst>
              </a:tr>
              <a:tr h="2665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upload_avg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-2.97105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95529898"/>
                  </a:ext>
                </a:extLst>
              </a:tr>
              <a:tr h="2665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near_contract_end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-2.89794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49818454"/>
                  </a:ext>
                </a:extLst>
              </a:tr>
              <a:tr h="2665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service_failure_count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2.187156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7215741"/>
                  </a:ext>
                </a:extLst>
              </a:tr>
              <a:tr h="2665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new_customer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0.090592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93147763"/>
                  </a:ext>
                </a:extLst>
              </a:tr>
            </a:tbl>
          </a:graphicData>
        </a:graphic>
      </p:graphicFrame>
      <p:sp>
        <p:nvSpPr>
          <p:cNvPr id="15" name="Right Brace 14">
            <a:extLst>
              <a:ext uri="{FF2B5EF4-FFF2-40B4-BE49-F238E27FC236}">
                <a16:creationId xmlns:a16="http://schemas.microsoft.com/office/drawing/2014/main" id="{D885BAF1-4360-7AC2-2058-A77316E9E10C}"/>
              </a:ext>
            </a:extLst>
          </p:cNvPr>
          <p:cNvSpPr/>
          <p:nvPr/>
        </p:nvSpPr>
        <p:spPr>
          <a:xfrm>
            <a:off x="5820697" y="2241755"/>
            <a:ext cx="403122" cy="983226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282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F3605-7AFC-7EB4-9B8E-6C8DA41EA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3009"/>
            <a:ext cx="6583680" cy="1531357"/>
          </a:xfrm>
        </p:spPr>
        <p:txBody>
          <a:bodyPr/>
          <a:lstStyle/>
          <a:p>
            <a:r>
              <a:rPr lang="en-IN" dirty="0"/>
              <a:t>Recommendations/ next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0327E-DAB0-DAC9-85EF-370779EFC5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6417F1-2BBE-07CA-EDD0-15A38AF2AE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5574" y="1831540"/>
            <a:ext cx="9134168" cy="25853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High-Risk Segments: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bill_avg_per_gb,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frequent service failures, and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remaining contract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Usage-Based Incentives: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 bonus data or plan upgrades for customers with moderate to high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download_avg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upload_avg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users have long-term revenue potential.</a:t>
            </a:r>
          </a:p>
        </p:txBody>
      </p:sp>
    </p:spTree>
    <p:extLst>
      <p:ext uri="{BB962C8B-B14F-4D97-AF65-F5344CB8AC3E}">
        <p14:creationId xmlns:p14="http://schemas.microsoft.com/office/powerpoint/2010/main" val="960366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u="sng" dirty="0"/>
              <a:t>Uday Vadecha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4C8A22C5-DBCA-4366-A69B-D27B44A5BFFE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aS2/bOBD+KwtdejEWoh4UlVviZi/dtEGyKBa7CIQhOXTUKKJBUU6ygf/7UpK9qbtKneZlKejNGtKcx/fNcEjp1pN5NS/g5iNcorfnHWh9cQnm4hfiTbxyJfv06cPR/smH7OP+0aET67nNdVl5e7eeBTND+zmvaiiaFZzw77OJB0VxDLPmSUFR4cSbo6l0CUX+D3aT3ZA1NS4nHl7PC22gWfLUgsVm2YWb7p6dbvJr6DSCsPkCT1HYTsqCOI6F4MACKSNCJE2pm1Z1E1rLeqc0S7fqp7q0kJdOTSMDoZiPMmYRUaHEOA6Y38hVXtjVFH5zeD03zjvn8828icq+XEApUHqtCwarzuJbb6qL+rL9dbghP9W1EXiCqh0qbW5v3DJ56VSUaLMKzSIXmInz2pTe0kXm2GgXt3bWnfBcX00NujhJb89fTrabsz+bGZyBXT0evqKtv9XlCrH4/6afOUmVl7NixYg7cP7oPJK6rO30HIxtOMe/OHAbKNzftJFoDm5aNN7nZk2LYPKNF0NxfXm2prCb++Urkk5dMGbadJ68pEFny2ZAuGTwFaFRwBWnFJSi8bB4XtW8EiZvC0zmKshIKM/zoshgMfsGen8c1vextsf0rQlbuII6rny9H7fdpWxPCnTZm4QBiSARyP1Y0ZBGJFbDyt4x7VK9leaOAuQR/BetmePKgO1hGMrmFcaUJpwRhTKVXKUIMn08/V890HmVXepFjtkcxIULdLaKPEczzl3DOWQXz+3Fa1al7flc1JVTgHI6wsT+Ib4NJcdTEvkx9yM/DHkQMwqRoiPKcQV5URvMTHOMfXvpMMIs+D4iQ6E9hTQNpU+lz32RQuQSQIyI9vd00T0t1OgoD0auhsbC+PvBaMjm2igC1PdVGKogYRGPooTKYZ0iNjwYNH+G2JYVepZJfVUWGuTDknJrFlQCrFPdW/l7y+efL1Y3v+LG6kqLEBpHiSA++AkJgYf0CR3Dq/XJP4pA4ZY3G7H3LtHM2styCRZa7+ad0hy7cS3bYWydv/V+z5213dqfoaibZd8dQJWLd86idXXohbOdXr0Ypj0BWnWDHJBg4IeKBSxJUwyecuLbRZP9E+aHxqpDPGZMoq/SIGVMBYxBwga2OT26lXjT2G62s5wFAbhjnKAMBIeYxAkZFooPeM2wO0DRXiGWu4b03mto7hMuAhVJTONQxjTy5cCuoXtboJ/obglRhy4jKeUqEoEfyTAMSYyAj0f3CKFyx+/ntf0vNPr92vZjXeVN+A6axnCq69Lu5py3I087BlHGOKSRJFJKEoYREyxo1H3XZ4vXluvrTYeb1VSAfhBSoGkcSCpZmLCBvSUe03lsfWLJnCCb8ed4zTTma+mt4RjKnZwKQUYQAiNC8oCkIlFPuJN7kfIwbYTZyfpq823UvA2nWiyaCX27sK5t5c4SeAwl9uzGDgAoJcotO3L7gZrXKnHhyXmxbQtvPlv7b/deLv8FWOlfxEEnAAA=&quot;"/>
    <we:property name="creatorSessionId" value="&quot;a831023e-9332-420b-892b-6200ccaf241c&quot;"/>
    <we:property name="creatorTenantId" value="&quot;30ec14df-cc5f-4651-a117-7622565c4a6c&quot;"/>
    <we:property name="creatorUserId" value="&quot;10032004F8E41AD0&quot;"/>
    <we:property name="datasetId" value="&quot;4331c16b-a357-42c8-8050-3cf80861c7d3&quot;"/>
    <we:property name="embedUrl" value="&quot;/reportEmbed?reportId=280ec846-4304-4a99-8ff9-6cc46c1dea59&amp;groupId=aaa05c1d-9b0d-46ce-adc3-a3e34874c8ad&amp;w=2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initialStateBookmark" value="&quot;H4sIAAAAAAAAA+1aS2/bOBD+KwtdejEWoh4UlVviZi/dtEGyKBa7CIQhOXTUKKJBUU6ygf/7UpK9qbtKneZlKejNGtKcx/fNcEjp1pN5NS/g5iNcorfnHWh9cQnm4hfiTbxyJfv06cPR/smH7OP+0aET67nNdVl5e7eeBTND+zmvaiiaFZzw77OJB0VxDLPmSUFR4cSbo6l0CUX+D3aT3ZA1NS4nHl7PC22gWfLUgsVm2YWb7p6dbvJr6DSCsPkCT1HYTsqCOI6F4MACKSNCJE2pm1Z1E1rLeqc0S7fqp7q0kJdOTSMDoZiPMmYRUaHEOA6Y38hVXtjVFH5zeD03zjvn8828icq+XEApUHqtCwarzuJbb6qL+rL9dbghP9W1EXiCqh0qbW5v3DJ56VSUaLMKzSIXmInz2pTe0kXm2GgXt3bWnfBcX00NujhJb89fTrabsz+bGZyBXT0evqKtv9XlCrH4/6afOUmVl7NixYg7cP7oPJK6rO30HIxtOMe/OHAbKNzftJFoDm5aNN7nZk2LYPKNF0NxfXm2prCb++Urkk5dMGbadJ68pEFny2ZAuGTwFaFRwBWnFJSi8bB4XtW8EiZvC0zmKshIKM/zoshgMfsGen8c1vextsf0rQlbuII6rny9H7fdpWxPCnTZm4QBiSARyP1Y0ZBGJFbDyt4x7VK9leaOAuQR/BetmePKgO1hGMrmFcaUJpwRhTKVXKUIMn08/V890HmVXepFjtkcxIULdLaKPEczzl3DOWQXz+3Fa1al7flc1JVTgHI6wsT+Ib4NJcdTEvkx9yM/DHkQMwqRoiPKcQV5URvMTHOMfXvpMMIs+D4iQ6E9hTQNpU+lz32RQuQSQIyI9vd00T0t1OgoD0auhsbC+PvBaMjm2igC1PdVGKogYRGPooTKYZ0iNjwYNH+G2JYVepZJfVUWGuTDknJrFlQCrFPdW/l7y+efL1Y3v+LG6kqLEBpHiSA++AkJgYf0CR3Dq/XJP4pA4ZY3G7H3LtHM2styCRZa7+ad0hy7cS3bYWydv/V+z5213dqfoaibZd8dQJWLd86idXXohbOdXr0Ypj0BWnWDHJBg4IeKBSxJUwyecuLbRZP9E+aHxqpDPGZMoq/SIGVMBYxBwga2OT26lXjT2G62s5wFAbhjnKAMBIeYxAkZFooPeM2wO0DRXiGWu4b03mto7hMuAhVJTONQxjTy5cCuoXtboJ/obglRhy4jKeUqEoEfyTAMSYyAj0f3CKFyx+/ntf0vNPr92vZjXeVN+A6axnCq69Lu5py3I087BlHGOKSRJFJKEoYREyxo1H3XZ4vXluvrTYeb1VSAfhBSoGkcSCpZmLCBvSUe03lsfWLJnCCb8ed4zTTma+mt4RjKnZwKQUYQAiNC8oCkIlFPuJN7kfIwbYTZyfpq823UvA2nWiyaCX27sK5t5c4SeAwl9uzGDgAoJcotO3L7gZrXKnHhyXmxbQtvPlv7b/deLv8FWOlfxEEnAAA=&quot;"/>
    <we:property name="isFiltersActionButtonVisible" value="true"/>
    <we:property name="isVisualContainerHeaderHidden" value="false"/>
    <we:property name="pageDisplayName" value="&quot;Page 1&quot;"/>
    <we:property name="pageName" value="&quot;82555ccba82dd411d696&quot;"/>
    <we:property name="reportEmbeddedTime" value="&quot;2025-11-10T09:38:14.578Z&quot;"/>
    <we:property name="reportName" value="&quot;Dashboard_customer_churn&quot;"/>
    <we:property name="reportState" value="&quot;CONNECTED&quot;"/>
    <we:property name="reportUrl" value="&quot;/groups/aaa05c1d-9b0d-46ce-adc3-a3e34874c8ad/reports/280ec846-4304-4a99-8ff9-6cc46c1dea59/82555ccba82dd411d696?bookmarkGuid=1fc5728c-84a5-4f5c-9fd5-64fce97fbb8a&amp;bookmarkUsage=1&amp;ctid=30ec14df-cc5f-4651-a117-7622565c4a6c&amp;fromEntryPoint=export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{CFCAB8CD-E6DA-44B5-8A21-2E58E029563A}tf78438558_win32</Template>
  <TotalTime>351</TotalTime>
  <Words>446</Words>
  <Application>Microsoft Office PowerPoint</Application>
  <PresentationFormat>Widescreen</PresentationFormat>
  <Paragraphs>224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 Narrow</vt:lpstr>
      <vt:lpstr>Arial</vt:lpstr>
      <vt:lpstr>Arial Black</vt:lpstr>
      <vt:lpstr>Calibri</vt:lpstr>
      <vt:lpstr>Sabon Next LT</vt:lpstr>
      <vt:lpstr>Times New Roman</vt:lpstr>
      <vt:lpstr>Custom</vt:lpstr>
      <vt:lpstr>Customer Churn Prediction for Internet Service Providers</vt:lpstr>
      <vt:lpstr>Data analysis</vt:lpstr>
      <vt:lpstr>Model architecture:</vt:lpstr>
      <vt:lpstr>PowerPoint Presentation</vt:lpstr>
      <vt:lpstr>Model evaluation metrics</vt:lpstr>
      <vt:lpstr>Model evaluation metrics</vt:lpstr>
      <vt:lpstr>Recommendations/ next steps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Udaykumar Abhaykumar Vadecha</dc:creator>
  <cp:lastModifiedBy>Udaykumar Abhaykumar Vadecha</cp:lastModifiedBy>
  <cp:revision>16</cp:revision>
  <dcterms:created xsi:type="dcterms:W3CDTF">2025-11-10T05:15:54Z</dcterms:created>
  <dcterms:modified xsi:type="dcterms:W3CDTF">2025-11-10T11:07:15Z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